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Hub Visits</c:v>
                </c:pt>
              </c:strCache>
            </c:strRef>
          </c:tx>
          <c:marker>
            <c:symbol val="none"/>
          </c:marker>
          <c:cat>
            <c:strRef>
              <c:f>Sheet1!$A$2:$A$57</c:f>
              <c:strCache>
                <c:ptCount val="56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  <c:pt idx="48">
                  <c:v>10-14</c:v>
                </c:pt>
                <c:pt idx="49">
                  <c:v>10-15</c:v>
                </c:pt>
                <c:pt idx="50">
                  <c:v>10-16</c:v>
                </c:pt>
                <c:pt idx="51">
                  <c:v>10-17</c:v>
                </c:pt>
                <c:pt idx="52">
                  <c:v>10-18</c:v>
                </c:pt>
                <c:pt idx="53">
                  <c:v>10-19</c:v>
                </c:pt>
                <c:pt idx="54">
                  <c:v>10-21</c:v>
                </c:pt>
                <c:pt idx="55">
                  <c:v>10-22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460.0</c:v>
                </c:pt>
                <c:pt idx="24">
                  <c:v>8.0</c:v>
                </c:pt>
                <c:pt idx="25">
                  <c:v>53.0</c:v>
                </c:pt>
                <c:pt idx="26">
                  <c:v>646.0</c:v>
                </c:pt>
                <c:pt idx="27">
                  <c:v>802.0</c:v>
                </c:pt>
                <c:pt idx="28">
                  <c:v>687.0</c:v>
                </c:pt>
                <c:pt idx="29">
                  <c:v>481.0</c:v>
                </c:pt>
                <c:pt idx="30">
                  <c:v>578.0</c:v>
                </c:pt>
                <c:pt idx="31">
                  <c:v>70.0</c:v>
                </c:pt>
                <c:pt idx="32">
                  <c:v>79.0</c:v>
                </c:pt>
                <c:pt idx="33">
                  <c:v>500.0</c:v>
                </c:pt>
                <c:pt idx="34">
                  <c:v>482.0</c:v>
                </c:pt>
                <c:pt idx="35">
                  <c:v>711.0</c:v>
                </c:pt>
                <c:pt idx="36">
                  <c:v>685.0</c:v>
                </c:pt>
                <c:pt idx="37">
                  <c:v>429.0</c:v>
                </c:pt>
                <c:pt idx="38">
                  <c:v>29.0</c:v>
                </c:pt>
                <c:pt idx="39">
                  <c:v>40.0</c:v>
                </c:pt>
                <c:pt idx="40">
                  <c:v>670.0</c:v>
                </c:pt>
                <c:pt idx="41">
                  <c:v>719.0</c:v>
                </c:pt>
                <c:pt idx="42">
                  <c:v>754.0</c:v>
                </c:pt>
                <c:pt idx="43">
                  <c:v>749.0</c:v>
                </c:pt>
                <c:pt idx="44">
                  <c:v>742.0</c:v>
                </c:pt>
                <c:pt idx="45">
                  <c:v>41.0</c:v>
                </c:pt>
                <c:pt idx="46">
                  <c:v>72.0</c:v>
                </c:pt>
                <c:pt idx="47">
                  <c:v>512.0</c:v>
                </c:pt>
                <c:pt idx="48">
                  <c:v>917.0</c:v>
                </c:pt>
                <c:pt idx="49">
                  <c:v>889.0</c:v>
                </c:pt>
                <c:pt idx="50">
                  <c:v>877.0</c:v>
                </c:pt>
                <c:pt idx="51">
                  <c:v>584.0</c:v>
                </c:pt>
                <c:pt idx="52">
                  <c:v>68.0</c:v>
                </c:pt>
                <c:pt idx="53">
                  <c:v>74.0</c:v>
                </c:pt>
                <c:pt idx="54">
                  <c:v>723.0</c:v>
                </c:pt>
                <c:pt idx="55">
                  <c:v>711.0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Repo Clones</c:v>
                </c:pt>
              </c:strCache>
            </c:strRef>
          </c:tx>
          <c:marker>
            <c:symbol val="none"/>
          </c:marker>
          <c:cat>
            <c:strRef>
              <c:f>Sheet1!$A$2:$A$57</c:f>
              <c:strCache>
                <c:ptCount val="56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  <c:pt idx="48">
                  <c:v>10-14</c:v>
                </c:pt>
                <c:pt idx="49">
                  <c:v>10-15</c:v>
                </c:pt>
                <c:pt idx="50">
                  <c:v>10-16</c:v>
                </c:pt>
                <c:pt idx="51">
                  <c:v>10-17</c:v>
                </c:pt>
                <c:pt idx="52">
                  <c:v>10-18</c:v>
                </c:pt>
                <c:pt idx="53">
                  <c:v>10-19</c:v>
                </c:pt>
                <c:pt idx="54">
                  <c:v>10-21</c:v>
                </c:pt>
                <c:pt idx="55">
                  <c:v>10-22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34.0</c:v>
                </c:pt>
                <c:pt idx="1">
                  <c:v>39.0</c:v>
                </c:pt>
                <c:pt idx="2">
                  <c:v>31.0</c:v>
                </c:pt>
                <c:pt idx="3">
                  <c:v>10.0</c:v>
                </c:pt>
                <c:pt idx="4">
                  <c:v>145.0</c:v>
                </c:pt>
                <c:pt idx="5">
                  <c:v>26.0</c:v>
                </c:pt>
                <c:pt idx="6">
                  <c:v>36.0</c:v>
                </c:pt>
                <c:pt idx="7">
                  <c:v>24.0</c:v>
                </c:pt>
                <c:pt idx="8">
                  <c:v>20.0</c:v>
                </c:pt>
                <c:pt idx="9">
                  <c:v>38.0</c:v>
                </c:pt>
                <c:pt idx="10">
                  <c:v>21.0</c:v>
                </c:pt>
                <c:pt idx="11">
                  <c:v>30.0</c:v>
                </c:pt>
                <c:pt idx="12">
                  <c:v>25.0</c:v>
                </c:pt>
                <c:pt idx="13">
                  <c:v>35.0</c:v>
                </c:pt>
                <c:pt idx="14">
                  <c:v>41.0</c:v>
                </c:pt>
                <c:pt idx="15">
                  <c:v>47.0</c:v>
                </c:pt>
                <c:pt idx="16">
                  <c:v>78.0</c:v>
                </c:pt>
                <c:pt idx="17">
                  <c:v>17.0</c:v>
                </c:pt>
                <c:pt idx="18">
                  <c:v>96.0</c:v>
                </c:pt>
                <c:pt idx="19">
                  <c:v>76.0</c:v>
                </c:pt>
                <c:pt idx="20">
                  <c:v>102.0</c:v>
                </c:pt>
                <c:pt idx="21">
                  <c:v>132.0</c:v>
                </c:pt>
                <c:pt idx="22">
                  <c:v>77.0</c:v>
                </c:pt>
                <c:pt idx="23">
                  <c:v>51.0</c:v>
                </c:pt>
                <c:pt idx="24">
                  <c:v>20.0</c:v>
                </c:pt>
                <c:pt idx="25">
                  <c:v>108.0</c:v>
                </c:pt>
                <c:pt idx="26">
                  <c:v>176.0</c:v>
                </c:pt>
                <c:pt idx="27">
                  <c:v>91.0</c:v>
                </c:pt>
                <c:pt idx="28">
                  <c:v>66.0</c:v>
                </c:pt>
                <c:pt idx="29">
                  <c:v>205.0</c:v>
                </c:pt>
                <c:pt idx="30">
                  <c:v>98.0</c:v>
                </c:pt>
                <c:pt idx="31">
                  <c:v>23.0</c:v>
                </c:pt>
                <c:pt idx="32">
                  <c:v>56.0</c:v>
                </c:pt>
                <c:pt idx="33">
                  <c:v>26.0</c:v>
                </c:pt>
                <c:pt idx="34">
                  <c:v>62.0</c:v>
                </c:pt>
                <c:pt idx="35">
                  <c:v>60.0</c:v>
                </c:pt>
                <c:pt idx="36">
                  <c:v>73.0</c:v>
                </c:pt>
                <c:pt idx="37">
                  <c:v>46.0</c:v>
                </c:pt>
                <c:pt idx="38">
                  <c:v>33.0</c:v>
                </c:pt>
                <c:pt idx="39">
                  <c:v>86.0</c:v>
                </c:pt>
                <c:pt idx="40">
                  <c:v>103.0</c:v>
                </c:pt>
                <c:pt idx="41">
                  <c:v>156.0</c:v>
                </c:pt>
                <c:pt idx="42">
                  <c:v>123.0</c:v>
                </c:pt>
                <c:pt idx="43">
                  <c:v>86.0</c:v>
                </c:pt>
                <c:pt idx="44">
                  <c:v>55.0</c:v>
                </c:pt>
                <c:pt idx="45">
                  <c:v>24.0</c:v>
                </c:pt>
                <c:pt idx="46">
                  <c:v>49.0</c:v>
                </c:pt>
                <c:pt idx="47">
                  <c:v>31.0</c:v>
                </c:pt>
                <c:pt idx="48">
                  <c:v>125.0</c:v>
                </c:pt>
                <c:pt idx="49">
                  <c:v>75.0</c:v>
                </c:pt>
                <c:pt idx="50">
                  <c:v>101.0</c:v>
                </c:pt>
                <c:pt idx="51">
                  <c:v>49.0</c:v>
                </c:pt>
                <c:pt idx="52">
                  <c:v>64.0</c:v>
                </c:pt>
                <c:pt idx="53">
                  <c:v>48.0</c:v>
                </c:pt>
                <c:pt idx="54">
                  <c:v>0.0</c:v>
                </c:pt>
                <c:pt idx="55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YouTube Views</c:v>
                </c:pt>
              </c:strCache>
            </c:strRef>
          </c:tx>
          <c:marker>
            <c:symbol val="none"/>
          </c:marker>
          <c:cat>
            <c:strRef>
              <c:f>Sheet1!$A$2:$A$57</c:f>
              <c:strCache>
                <c:ptCount val="56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  <c:pt idx="48">
                  <c:v>10-14</c:v>
                </c:pt>
                <c:pt idx="49">
                  <c:v>10-15</c:v>
                </c:pt>
                <c:pt idx="50">
                  <c:v>10-16</c:v>
                </c:pt>
                <c:pt idx="51">
                  <c:v>10-17</c:v>
                </c:pt>
                <c:pt idx="52">
                  <c:v>10-18</c:v>
                </c:pt>
                <c:pt idx="53">
                  <c:v>10-19</c:v>
                </c:pt>
                <c:pt idx="54">
                  <c:v>10-21</c:v>
                </c:pt>
                <c:pt idx="55">
                  <c:v>10-22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Δ/day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FinOps and FOCUS</c:v>
                </c:pt>
                <c:pt idx="1">
                  <c:v>Cowork Chargeback</c:v>
                </c:pt>
                <c:pt idx="2">
                  <c:v>Copilot ROI Calculator</c:v>
                </c:pt>
                <c:pt idx="3">
                  <c:v>AI in 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391.11904761904765</c:v>
                </c:pt>
                <c:pt idx="1">
                  <c:v>305.2142857142857</c:v>
                </c:pt>
                <c:pt idx="2">
                  <c:v>106.19047619047619</c:v>
                </c:pt>
                <c:pt idx="3">
                  <c:v>12.821428571428571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Enablement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58952"/>
            <a:ext cx="1136873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D6E1F0"/>
                </a:solidFill>
                <a:latin typeface="Segoe UI"/>
              </a:rPr>
              <a:t>Executive Review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47088"/>
            <a:ext cx="11368735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E223B"/>
                </a:solidFill>
                <a:latin typeface="Segoe UI"/>
              </a:rPr>
              <a:t>Data-driven view of how enablement sessions correlate with traffic movement across visits, clones, YouTube, referrals, and report-level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44768"/>
            <a:ext cx="1136873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66172"/>
                </a:solidFill>
                <a:latin typeface="Segoe UI"/>
              </a:rPr>
              <a:t>Generated 2026-10-22 22:29 UTC from pages analytics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1136873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Analytics Hub · Enablement Correlation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23B"/>
                </a:solidFill>
                <a:latin typeface="Segoe UI"/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66172"/>
                </a:solidFill>
                <a:latin typeface="Segoe UI"/>
              </a:rPr>
              <a:t>7-day before vs 7-day after windows around each 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2176272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1234440"/>
            <a:ext cx="19202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Events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1444752"/>
            <a:ext cx="1920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E223B"/>
                </a:solidFill>
                <a:latin typeface="Segoe U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157984"/>
            <a:ext cx="19202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66172"/>
                </a:solidFill>
                <a:latin typeface="Segoe UI"/>
              </a:rPr>
              <a:t>Catalog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4056" y="1143000"/>
            <a:ext cx="2176272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2072" y="1234440"/>
            <a:ext cx="19202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Visit-positive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444752"/>
            <a:ext cx="1920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E223B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157984"/>
            <a:ext cx="19202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66172"/>
                </a:solidFill>
                <a:latin typeface="Segoe UI"/>
              </a:rPr>
              <a:t>10/30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56632" y="1143000"/>
            <a:ext cx="2176272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234440"/>
            <a:ext cx="19202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Clone-positive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444752"/>
            <a:ext cx="1920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E223B"/>
                </a:solidFill>
                <a:latin typeface="Segoe U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157984"/>
            <a:ext cx="19202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66172"/>
                </a:solidFill>
                <a:latin typeface="Segoe UI"/>
              </a:rPr>
              <a:t>18/30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9208" y="1143000"/>
            <a:ext cx="2176272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1234440"/>
            <a:ext cx="19202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YouTube-positive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1444752"/>
            <a:ext cx="1920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E223B"/>
                </a:solidFill>
                <a:latin typeface="Segoe U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157984"/>
            <a:ext cx="19202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66172"/>
                </a:solidFill>
                <a:latin typeface="Segoe UI"/>
              </a:rPr>
              <a:t>0/30 events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01784" y="1143000"/>
            <a:ext cx="2176272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234440"/>
            <a:ext cx="192023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Report-lift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444752"/>
            <a:ext cx="192023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E223B"/>
                </a:solidFill>
                <a:latin typeface="Segoe UI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157984"/>
            <a:ext cx="192023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566172"/>
                </a:solidFill>
                <a:latin typeface="Segoe UI"/>
              </a:rPr>
              <a:t>Any report family +delta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606040"/>
            <a:ext cx="11365992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852928"/>
            <a:ext cx="107899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E223B"/>
                </a:solidFill>
                <a:latin typeface="Segoe UI"/>
              </a:defRPr>
            </a:pPr>
            <a:r>
              <a:t>• Use this pack to validate which session types repeatedly precede stronger traffic movement.</a:t>
            </a:r>
          </a:p>
          <a:p>
            <a:pPr>
              <a:defRPr sz="1400">
                <a:solidFill>
                  <a:srgbClr val="0E223B"/>
                </a:solidFill>
                <a:latin typeface="Segoe UI"/>
              </a:defRPr>
            </a:pPr>
            <a:r>
              <a:t>• Treat all deltas as directional correlation signals, especially when sessions are clustered.</a:t>
            </a:r>
          </a:p>
          <a:p>
            <a:pPr>
              <a:defRPr sz="1400">
                <a:solidFill>
                  <a:srgbClr val="0E223B"/>
                </a:solidFill>
                <a:latin typeface="Segoe UI"/>
              </a:defRPr>
            </a:pPr>
            <a:r>
              <a:t>• Prioritize replication of motions with sustained positive deltas in visits + report-family traffic.</a:t>
            </a:r>
          </a:p>
          <a:p>
            <a:pPr>
              <a:defRPr sz="1400">
                <a:solidFill>
                  <a:srgbClr val="0E223B"/>
                </a:solidFill>
                <a:latin typeface="Segoe UI"/>
              </a:defRPr>
            </a:pPr>
            <a:r>
              <a:t>• Keep event metadata discipline (audience, topic, region) to sharpen causality confidence over time.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47104"/>
            <a:ext cx="1136873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Analytics Hub · Enablement Correlation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23B"/>
                </a:solidFill>
                <a:latin typeface="Segoe UI"/>
              </a:rPr>
              <a:t>Trend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66172"/>
                </a:solidFill>
                <a:latin typeface="Segoe UI"/>
              </a:rPr>
              <a:t>Daily movement across core telemetry streams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43000"/>
          <a:ext cx="110642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136873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Analytics Hub · Enablement Correlation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23B"/>
                </a:solidFill>
                <a:latin typeface="Segoe UI"/>
              </a:rPr>
              <a:t>Top Events by Visits Delta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66172"/>
                </a:solidFill>
                <a:latin typeface="Segoe UI"/>
              </a:rPr>
              <a:t>Highest positive shifts in post-event visit averages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1138428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2788920"/>
                <a:gridCol w="685800"/>
                <a:gridCol w="1051560"/>
                <a:gridCol w="1143000"/>
                <a:gridCol w="1143000"/>
                <a:gridCol w="914400"/>
                <a:gridCol w="2697480"/>
              </a:tblGrid>
              <a:tr h="553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Visits Δ/day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Clones Δ/day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YT Δ/day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Top report increases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2026-09-21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VOS + Copilot Analytics Office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office-hours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FinOps and FOCUS (+0.7/d)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2026-09-21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Value Optimization SME Enablement: Cowork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cowork-enablement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FinOps and FOCUS (+0.7/d)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Value Optimization SME Enablement: Value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cowork-enablement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+223.3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-14.4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Copilot ROI Calculator (+25.3/d)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DPG Hackathon/FHL Demo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+223.3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-14.4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Copilot ROI Calculator (+25.3/d)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2026-10-06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GSA Cowork office hours (EMEA/APAC)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office-hours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+124.4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Cowork Chargeback (+12.6/d), FinOps and FOCUS (+12.6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2026-10-01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VOS enablement - Cowork team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cowork-enablement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No report lift signal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2026-10-01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ATA+BVA - ValueLens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No report lift signal</a:t>
                      </a:r>
                    </a:p>
                  </a:txBody>
                  <a:tcPr/>
                </a:tc>
              </a:tr>
              <a:tr h="5537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2026-10-14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OGE SE Office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office-hours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+55.5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+2.1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E223B"/>
                          </a:solidFill>
                          <a:latin typeface="Segoe UI"/>
                        </a:defRPr>
                      </a:pPr>
                      <a:r>
                        <a:t>Cowork Chargeback (+56.4/d), FinOps and FOCUS (+40.9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47104"/>
            <a:ext cx="1136873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Analytics Hub · Enablement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23B"/>
                </a:solidFill>
                <a:latin typeface="Segoe UI"/>
              </a:rPr>
              <a:t>Report Family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66172"/>
                </a:solidFill>
                <a:latin typeface="Segoe UI"/>
              </a:rPr>
              <a:t>Cumulative delta/day across all events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097280"/>
          <a:ext cx="754380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38160" y="1097280"/>
            <a:ext cx="3611880" cy="489204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325880"/>
            <a:ext cx="3154680" cy="4434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E223B"/>
                </a:solidFill>
                <a:latin typeface="Segoe UI"/>
              </a:defRPr>
            </a:pPr>
            <a:r>
              <a:t>Interpretation</a:t>
            </a:r>
          </a:p>
          <a:p>
            <a:pPr>
              <a:defRPr sz="1050" b="0">
                <a:solidFill>
                  <a:srgbClr val="0E223B"/>
                </a:solidFill>
                <a:latin typeface="Segoe UI"/>
              </a:defRPr>
            </a:pPr>
          </a:p>
          <a:p>
            <a:pPr>
              <a:defRPr sz="1050" b="0">
                <a:solidFill>
                  <a:srgbClr val="0E223B"/>
                </a:solidFill>
                <a:latin typeface="Segoe UI"/>
              </a:defRPr>
            </a:pPr>
            <a:r>
              <a:t>Top contributors</a:t>
            </a:r>
          </a:p>
          <a:p>
            <a:pPr>
              <a:defRPr sz="1050" b="0">
                <a:solidFill>
                  <a:srgbClr val="566172"/>
                </a:solidFill>
                <a:latin typeface="Segoe UI"/>
              </a:defRPr>
            </a:pPr>
            <a:r>
              <a:t>• FinOps and FOCUS: +391.1/day</a:t>
            </a:r>
          </a:p>
          <a:p>
            <a:pPr>
              <a:defRPr sz="1050" b="0">
                <a:solidFill>
                  <a:srgbClr val="566172"/>
                </a:solidFill>
                <a:latin typeface="Segoe UI"/>
              </a:defRPr>
            </a:pPr>
            <a:r>
              <a:t>• Cowork Chargeback: +305.2/day</a:t>
            </a:r>
          </a:p>
          <a:p>
            <a:pPr>
              <a:defRPr sz="1050" b="0">
                <a:solidFill>
                  <a:srgbClr val="566172"/>
                </a:solidFill>
                <a:latin typeface="Segoe UI"/>
              </a:defRPr>
            </a:pPr>
            <a:r>
              <a:t>• Copilot ROI Calculator: +106.2/day</a:t>
            </a:r>
          </a:p>
          <a:p>
            <a:pPr>
              <a:defRPr sz="1050" b="0">
                <a:solidFill>
                  <a:srgbClr val="566172"/>
                </a:solidFill>
                <a:latin typeface="Segoe UI"/>
              </a:defRPr>
            </a:pPr>
            <a:r>
              <a:t>• AI in One: +12.8/day</a:t>
            </a:r>
          </a:p>
          <a:p>
            <a:pPr>
              <a:defRPr sz="1050" b="0">
                <a:solidFill>
                  <a:srgbClr val="566172"/>
                </a:solidFill>
                <a:latin typeface="Segoe UI"/>
              </a:defRPr>
            </a:pPr>
          </a:p>
          <a:p>
            <a:pPr>
              <a:defRPr sz="1050" b="0">
                <a:solidFill>
                  <a:srgbClr val="566172"/>
                </a:solidFill>
                <a:latin typeface="Segoe UI"/>
              </a:defRPr>
            </a:pPr>
            <a:r>
              <a:t>Use this to prioritize enablement focus by report surface.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47104"/>
            <a:ext cx="1136873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Analytics Hub · Enablement Correlation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E223B"/>
                </a:solidFill>
                <a:latin typeface="Segoe UI"/>
              </a:rP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66172"/>
                </a:solidFill>
                <a:latin typeface="Segoe UI"/>
              </a:rPr>
              <a:t>Make correlation reporting repeatable and decision-ready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11384280" cy="4983480"/>
          </a:xfrm>
          <a:prstGeom prst="roundRect">
            <a:avLst/>
          </a:prstGeom>
          <a:solidFill>
            <a:srgbClr val="F5F8FC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881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E223B"/>
                </a:solidFill>
                <a:latin typeface="Segoe UI"/>
              </a:defRPr>
            </a:pPr>
            <a:r>
              <a:t>1. Standardize event metadata capture (audience, topic, region, target report family).</a:t>
            </a:r>
          </a:p>
          <a:p>
            <a:pPr>
              <a:spcAft>
                <a:spcPts val="1200"/>
              </a:spcAft>
              <a:defRPr sz="1400">
                <a:solidFill>
                  <a:srgbClr val="0E223B"/>
                </a:solidFill>
                <a:latin typeface="Segoe UI"/>
              </a:defRPr>
            </a:pPr>
            <a:r>
              <a:t>2. Publish this export pack on a fixed monthly reporting cadence.</a:t>
            </a:r>
          </a:p>
          <a:p>
            <a:pPr>
              <a:spcAft>
                <a:spcPts val="1200"/>
              </a:spcAft>
              <a:defRPr sz="1400">
                <a:solidFill>
                  <a:srgbClr val="0E223B"/>
                </a:solidFill>
                <a:latin typeface="Segoe UI"/>
              </a:defRPr>
            </a:pPr>
            <a:r>
              <a:t>3. Add threshold flags for high-signal wins (for example visits and clones deltas).</a:t>
            </a:r>
          </a:p>
          <a:p>
            <a:pPr>
              <a:spcAft>
                <a:spcPts val="1200"/>
              </a:spcAft>
              <a:defRPr sz="1400">
                <a:solidFill>
                  <a:srgbClr val="0E223B"/>
                </a:solidFill>
                <a:latin typeface="Segoe UI"/>
              </a:defRPr>
            </a:pPr>
            <a:r>
              <a:t>4. Feed top-performing patterns into upcoming enablement calendar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9144"/>
          </a:xfrm>
          <a:prstGeom prst="rect">
            <a:avLst/>
          </a:prstGeom>
          <a:solidFill>
            <a:srgbClr val="DC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11368735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17D8F"/>
                </a:solidFill>
                <a:latin typeface="Segoe UI"/>
              </a:rPr>
              <a:t>Analytics Hub · Enablement Correlation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