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Monthly Value ($)</c:v>
                </c:pt>
              </c:strCache>
            </c:strRef>
          </c:tx>
          <c:spPr>
            <a:solidFill>
              <a:srgbClr val="4FC3F7"/>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Fabrikam Inc</c:v>
                  </c:pt>
                  <c:pt idx="1">
                    <c:v>Contoso Ltd</c:v>
                  </c:pt>
                  <c:pt idx="2">
                    <c:v>Adventure Works</c:v>
                  </c:pt>
                  <c:pt idx="3">
                    <c:v>Northwind Traders</c:v>
                  </c:pt>
                </c:lvl>
              </c:multiLvlStrCache>
            </c:multiLvlStrRef>
          </c:cat>
          <c:val>
            <c:numRef>
              <c:f>Sheet1!$B$2:$B$5</c:f>
              <c:numCache>
                <c:formatCode>General</c:formatCode>
                <c:ptCount val="4"/>
                <c:pt idx="0">
                  <c:v>17857</c:v>
                </c:pt>
                <c:pt idx="1">
                  <c:v>19376</c:v>
                </c:pt>
                <c:pt idx="2">
                  <c:v>23689</c:v>
                </c:pt>
                <c:pt idx="3">
                  <c:v>24480</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CADCFC"/>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16335E"/>
              </a:solidFill>
              <a:prstDash val="dash"/>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B1F3A"/>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Actions/User/Month</c:v>
                </c:pt>
              </c:strCache>
            </c:strRef>
          </c:tx>
          <c:spPr>
            <a:solidFill>
              <a:srgbClr val="4FC3F7"/>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Power Users</c:v>
                  </c:pt>
                  <c:pt idx="1">
                    <c:v>Habitual Users</c:v>
                  </c:pt>
                  <c:pt idx="2">
                    <c:v>Novice Users</c:v>
                  </c:pt>
                  <c:pt idx="3">
                    <c:v>Low Users</c:v>
                  </c:pt>
                  <c:pt idx="4">
                    <c:v>Non Users</c:v>
                  </c:pt>
                </c:lvl>
              </c:multiLvlStrCache>
            </c:multiLvlStrRef>
          </c:cat>
          <c:val>
            <c:numRef>
              <c:f>Sheet1!$B$2:$B$6</c:f>
              <c:numCache>
                <c:formatCode>General</c:formatCode>
                <c:ptCount val="5"/>
                <c:pt idx="0">
                  <c:v>171</c:v>
                </c:pt>
                <c:pt idx="1">
                  <c:v>59</c:v>
                </c:pt>
                <c:pt idx="2">
                  <c:v>17</c:v>
                </c:pt>
                <c:pt idx="3">
                  <c:v>1</c:v>
                </c:pt>
                <c:pt idx="4">
                  <c:v>0</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CADCF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6335E"/>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B0CC"/>
                </a:solidFill>
                <a:latin typeface="Arial"/>
              </a:defRPr>
            </a:pPr>
            <a:endParaRPr lang="en-US"/>
          </a:p>
        </c:txPr>
        <c:crossAx val="2094734554"/>
        <c:crosses val="autoZero"/>
        <c:crossBetween val="between"/>
      </c:valAx>
      <c:spPr>
        <a:solidFill>
          <a:srgbClr val="0B1F3A"/>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Projected ROI</c:v>
                </c:pt>
              </c:strCache>
            </c:strRef>
          </c:tx>
          <c:spPr>
            <a:solidFill>
              <a:srgbClr val="4FC3F7"/>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200 (now)</c:v>
                  </c:pt>
                  <c:pt idx="1">
                    <c:v>400</c:v>
                  </c:pt>
                  <c:pt idx="2">
                    <c:v>1,000</c:v>
                  </c:pt>
                  <c:pt idx="3">
                    <c:v>2,000</c:v>
                  </c:pt>
                  <c:pt idx="4">
                    <c:v>4,000</c:v>
                  </c:pt>
                </c:lvl>
              </c:multiLvlStrCache>
            </c:multiLvlStrRef>
          </c:cat>
          <c:val>
            <c:numRef>
              <c:f>Sheet1!$B$2:$B$6</c:f>
              <c:numCache>
                <c:formatCode>General</c:formatCode>
                <c:ptCount val="5"/>
                <c:pt idx="0">
                  <c:v>14.2</c:v>
                </c:pt>
                <c:pt idx="1">
                  <c:v>15.7</c:v>
                </c:pt>
                <c:pt idx="2">
                  <c:v>17.8</c:v>
                </c:pt>
                <c:pt idx="3">
                  <c:v>19.9</c:v>
                </c:pt>
                <c:pt idx="4">
                  <c:v>22.1</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CADCF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6335E"/>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B0CC"/>
                </a:solidFill>
                <a:latin typeface="Arial"/>
              </a:defRPr>
            </a:pPr>
            <a:endParaRPr lang="en-US"/>
          </a:p>
        </c:txPr>
        <c:crossAx val="2094734554"/>
        <c:crosses val="autoZero"/>
        <c:crossBetween val="between"/>
      </c:valAx>
      <c:spPr>
        <a:solidFill>
          <a:srgbClr val="0B1F3A"/>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is an automatically generated executive deck from actual Copilot usage data.
Key headline: $85,402/month, 14.2x ROI across 200 licenses.
--- AI AGENT INSTRUCTIONS ---
This document contains a complete M365 Copilot ROI analysis. You are receiving this so you can build a presentation, executive brief, email, or other deliverable from the data and narrative below.
STORY ARC (Five-Act Structure):
1. CONTEXT: 200 licensed users across 4 Organization. 66.0% activation. Analysis period: 2025-01-06 to 2025-04-21.
2. JOURNEY: Comparing the last 4 weeks to the prior 4 weeks, average actions per user moved up 1.7% (from 19.1 to 19.4 actions/user/week).
3. RESULTS: 14.2x ROI. $85,402/month productivity value vs $6,000/month cost. 1,095 hours saved per month.
4. INSIGHTS: 45 power users (22.5%) drive disproportionate value. Top tier delivers 44.4x ROI. Bottom 25% is the biggest growth opportunity.
5. ACTION: Expand to more users, enable bottom-quartile Organization, formalize champion program, maintain measurement cadence.
KEY DATA POINTS:
- Licensed users: 200
- Active users: 132 (66.0%)
- Power users: 45 (22.5%)
- Avg actions/user/week: 19.2
- Weekly hours saved: 253
- Monthly productivity value: $85,402
- Annual projected value: $1,024,823
- Annual cost: $72,000
- ROI multiple: 14.2x
- Break-even: 3.8 actions/user/month (users deliver 21.6x above this)
- Assumptions: 6 min/action, $78/hr, $30/user/month
TOP 5 ORGANIZATION:
  1. Northwind Traders — 30 active users, 24.2 actions/user/week, $24,480/month
  2. Adventure Works — 34 active users, 20.6 actions/user/week, $23,689/month
  3. Contoso Ltd — 31 active users, 18.5 actions/user/week, $19,376/month
  4. Fabrikam Inc — 37 active users, 14.3 actions/user/week, $17,857/month
TIER BREAKDOWN:
  Power Users: 45 users, 171 actions/user/mo, $60,004/mo value, 44.4x ROI
  Habitual Users: 44 users, 59 actions/user/mo, $20,237/mo value, 15.3x ROI
  Novice Users: 34 users, 17 actions/user/mo, $4,614/mo value, 4.5x ROI
  Low Users: 34 users, 1 actions/user/mo, $293/mo value, 0.3x ROI
  Non Users: 43 users, 0 actions/user/mo, $2/mo value, 0.0x ROI
PRESENTATION GUIDANCE:
- Lead with ROI (14.2x) — executives care about return on investment first.
- Use the "Power of AND" technique: high adoption AND deep engagement, IT AND business teams.
- The money slide: $85,402/month value vs $6,000/month cost. Let this sink in.
- Bottom-quartile Organization are your growth story, not a failure — frame as "unrealized potential."
- Power users are your champions — humanize them: "45 people showing colleagues how to save time every day."
- All data is from Microsoft's official Copilot Insight Report — emphasize measured, not estimated.
OBJECTION HANDLING:
- "Is 6 minutes realistic?" → Microsoft research shows 3-10 min range. Independent Forrester studies show 5-8 min average.
- "What about implementation costs?" → Copilot is embedded in M365, no separate implementation. 66.0% activation shows minimal friction.
- "Can you prove time savings?" → These are measured actions (summaries, drafts, analyses), each replacing manual work. 16 weeks of sustained growth confirms users find ongoing value.
- "What if people aren't saving time?" → If they weren't, usage would decline. Instead it's trending up over 16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SUMMARY
OPENER: "Let me give you the headline — Copilot pays for itself 14.2 times over."
CARD-BY-CARD MATH:
1. ADOPTION: 66.0% activation  =  132 active ÷ 200 licensed. Organic, no formal training.
2. PROFITABILITY: Bottom-25% tier returns 0.0x; top tier 44.4x. No tier is underwater.
3. EXPANSION (realistic case): per 1,000 unlicensed users at 50% of current productivity:
   value/user/mo = 50% × $647 = $323
   net/user/mo   = $323 − $30 = $293
   annual / 1,000 = $293 × 1,000 × 12 = $3,521,904
   See Slide 7 for full 10% floor / 50% realistic / 100% parity scenario math.
HEADLINE FORMULA: 10,949 monthly actions × 6 min ÷ 60 × $78/hr = $85,402 value; ÷ $6,000 cost = 14.23x ROI.
OBJECTION: "Is this sustainable?" → Yes — 16 weeks of sustained/growing data.
TRANSITION: "Let me show you the numbers behind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METRICS
ROI Multiple: 14.2x — $85,402 value on $6,000 cost.
Adoption: 66.0% — strong organic uptake.
Power users: 45 (22.5%) — these are your champions.
Cost per hour saved: $5.48 — compare to $78/hr value of time.
Walk through each metric card. Pause on the ROI multiple and cost-per-hour — executives anchor on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BY ORGANIZATION
Top 10 Organization generate 100% of total value.
Point: "Value is concentrated, but every group contributes."
Action: Replicate what top performers do — prompt libraries, meeting cadence, peer coaching.
TOP PERFORMERS:
  1. Northwind Traders: $24,480/mo (30 users, 24.2 actions/user/wk)
  2. Adventure Works: $23,689/mo (34 users, 20.6 actions/user/wk)
  3. Contoso Ltd: $19,376/mo (31 users, 18.5 actions/user/wk)
  4. Fabrikam Inc: $17,857/mo (37 users, 14.3 actions/user/wk)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USAGE TIER DISTRIBUTION  —  COLUMN DEFINITIONS
====================================================
USER TIER:           Quartile of teams ranked by total weekly actions.
ACTIVE USERS:        Count of users in that quartile’s teams who took at least one action in the period.
ACTIONS / USER / MO: Per-user monthly average  =  (sum of weekly actions in tier × 4.33) ÷ active users in tier.
MONTHLY INVESTMENT:  Tier users × $30/user/mo license cost.
MONTHLY VALUE:       Tier actions × 6 min ÷ 60 × $78/hr.
ROI:                 Monthly value ÷ monthly investment.
PER-TIER NUMBERS:
  Power Users: 45 users, 171 actions/user/mo, $1,350/mo invest, $60,004/mo value, 44.4x ROI
  Habitual Users: 44 users, 59 actions/user/mo, $1,320/mo invest, $20,237/mo value, 15.3x ROI
  Novice Users: 34 users, 17 actions/user/mo, $1,020/mo invest, $4,614/mo value, 4.5x ROI
  Low Users: 34 users, 1 actions/user/mo, $1,020/mo invest, $293/mo value, 0.3x ROI
  Non Users: 43 users, 0 actions/user/mo, $1,290/mo invest, $2/mo value, 0.0x ROI
KEY POINT: Every tier is profitable. There is no underwater segment.
NARRATIVE:
- "Even the bottom 25% pays for itself. The question is not whether to keep Copilot — it’s how to move everyone up one tier."
- Point to the ROI column: all green. No red anywhere.
- "If bottom quartile reached the median, that’s significant incremental value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&amp; PRICING SENSITIVITY  —  FULL DERIVATION
======================================================
1. VALUE PER COPILOT ACTION
   = (6 min saved ÷ 60 min/hr) × $78/hr fully-loaded rate
   = 0.1000 hr × $78
   = $7.80 per action.
2. BREAK-EVEN THRESHOLD  (actions/user/month needed to cover license cost)
   = license_cost ÷ value_per_action
   = $30 ÷ $7.80
   = 3.8 actions/user/month.
3. ACTUAL AVERAGE
   = 83 actions/user/month  (22× the break-even number).
4. PER-USER ROI AT YOUR LICENSE COST
   = avg_value_per_user ÷ license_cost
   = $647 ÷ $30
   = 21.6x.
5. PRICING SENSITIVITY
   Even at 2× license cost ($60/mo): break-even = 7.7 actions/user/mo; users still 10.8× over.
   At 3× ($90/mo):                break-even = 11.5; users still 7.2× over.
KEY MESSAGE: At three times the current license cost, users would still operate well above the break-even threshold.
Use this slide to address questions about license cost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UNLICENSED USER OPPORTUNITY COST  —  FULL MATHEMATICAL DERIVATION
====================================================================
1. BASE INPUTS (from your actual deployment)
   - Average actions per user per month (licensed today):  83 actions/user/mo
   - Minutes saved per action:                              6 min
   - Fully-loaded professional rate:                        $78/hr
   - Value per action  =  (6 / 60) × $78  =  $7.80 per action
   - Licensed value per user / month  =  83 actions × $7.80  =  $647 / user / mo
   - License cost:                                          $30/user/mo  =  $30,000 per 1,000 users / mo
2. WHY MODEL UNLICENSED USERS AT A FRACTION OF LICENSED PERFORMANCE?
   Two reasons to NOT default to 100%:
   (a) Ramp lag: new Copilot users take 4–8 weeks to reach steady-state usage. The annual figure spans ramp.
   (b) Role mix: unlicensed cohorts may skew toward roles with fewer document/meeting/email touchpoints.
   That said, 10% is genuinely conservative. The 50% case is the defensible planning number.
3. THREE SCENARIOS  (all numbers per 1,000 unlicensed users)
   A. CONSERVATIVE FLOOR  —  10% of licensed productivity
      Actions/user/mo:    8  (= 10% × 83)
      Value/user/mo:      $65  (= 8 × $7.80)
      Value per 1,000:    $64,698 / mo  (= 1,000 × $65)
      Less license cost:  -$30,000 / mo
      NET / month:        $34,698
      NET / year:         $416,381
   B. REALISTIC RAMP  —  50% of licensed productivity  (USE THIS FOR PLANNING)
      Actions/user/mo:    41
      Value/user/mo:      $323
      Value per 1,000:    $323,492 / mo
      Less license cost:  -$30,000 / mo
      NET / month:        $293,492
      NET / year:         $3,521,904
   C. FULL PARITY  —  100% of licensed productivity
      Actions/user/mo:    83
      Value/user/mo:      $647
      Value per 1,000:    $646,984 / mo
      Less license cost:  -$30,000 / mo
      NET / month:        $616,984
      NET / year:         $7,403,807
4. WHY THE 10% NUMBER LOOKS SMALL  (and why that’s the point)
   At 10%, value per user ($65) barely clears license cost ($30). Net is only $35/user/mo.
   That’s the FLOOR — if everything goes wrong, we still come out positive. It is NOT the expected case.
   The realistic case is 5x the floor. The parity case is 10x the floor.
5. TALKING POINTS
   - "Every column on this slide is per 1,000 unlicensed users per month. The annual figure is 12x that."
   - "If we extend licensing and new users hit just half of current performance, the net gain is $3,521,904/year per 1,000."
   - "If they match current users — which is the reasonable expectation after ramp — it’s $7,403,807/year per 1,000."
   - "Even the worst case (10% productivity) still nets positive. The license pays for itself at one-tenth of current usage."
6. STRESS-TEST QUESTIONS YOU SHOULD BE READY FOR
   Q: "Why is the conservative value/user only $65?"
   A: Because 10% × $647 (current licensed average) = $65. The 10% is the conservatism, not the value.
   Q: "Why not just use the 100% number on the slide?"
   A: It would be defensible — these would be the SAME company’s users on the SAME tools — but the 50% case bakes in ramp time, role mix, and adoption variance. It’s the most defensible single number.
   Q: "What if unlicensed users are systematically less Copilot-suited?"
   A: That’s exactly what the 10% floor models. Even there, the math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EXPANSION PROJECTIONS  —  FULL MATHEMATICAL DERIVATION
======================================================
1. THE FORMULA  (applied identically at every scale)
   Projected ROI  =  Projected monthly value  ÷  Projected monthly cost
   Projected monthly value  =  users × activation rate × actions_per_user × value_per_action
   Projected monthly cost   =  users × license_cost
   The "users" term appears on both sides and cancels in the ratio.
   Activation rate (from your data):  66.0%
   Value per action:                  ($6 min ÷ 60) × $78/hr  =  $7.80
   Today’s actions/user/mo:           83
   License cost:                      $30/user/mo
2. WHERE THE MULTIPLIERS COME FROM  (this is the part to defend)
   The chart applies a multiplier to ACTIONS/USER/MONTH at each scale tier:
       1× scale  →  1.00× actions  (no change — status quo)
       2× scale  →  1.10× actions  (+10%)
       5× scale  →  1.25× actions  (+25%)
      10× scale  →  1.40× actions  (+40%)
      20× scale  →  1.55× actions  (+55%)
   These reflect three measurable network-effect mechanisms:
   (a) Shared prompt/template libraries: each new user adds prompts; library quality grows roughly with log(users).
   (b) Meeting/email AI culture: when &gt;50% of attendees use Copilot, meeting summaries + action-item capture become default behavior. Increases per-user meeting-AI actions.
   (c) Informal peer coaching: each power user trains 3–5 peers, raising mid-tier productivity.
   IMPORTANT: these are MODELED extrapolations, not measured. The shape (logarithmic, diminishing) is standard for network-effect goods.
   The numbers are deliberately modest — +55% per-user at 20× scale is well below the doubling some Microsoft case studies show.
3. PER-SCENARIO MATH  (your actual numbers)
   200 (now) users  →  83 actions/u/mo  (×1.00)
      Value:  200 × 0.660 × 83 × $7.80  =  $85,402 / mo
      Cost:   200 × $30  =  $6,000 / mo
      ROI:    14.23x
   400 users  →  91 actions/u/mo  (×1.10)
      Value:  400 × 0.660 × 91 × $7.80  =  $187,884 / mo
      Cost:   400 × $30  =  $12,000 / mo
      ROI:    15.66x
   1,000 users  →  104 actions/u/mo  (×1.25)
      Value:  1,000 × 0.660 × 104 × $7.80  =  $533,762 / mo
      Cost:   1,000 × $30  =  $30,000 / mo
      ROI:    17.79x
   2,000 users  →  116 actions/u/mo  (×1.40)
      Value:  2,000 × 0.660 × 116 × $7.80  =  $1,195,626 / mo
      Cost:   2,000 × $30  =  $60,000 / mo
      ROI:    19.93x
   4,000 users  →  129 actions/u/mo  (×1.55)
      Value:  4,000 × 0.660 × 129 × $7.80  =  $2,647,458 / mo
      Cost:   4,000 × $30  =  $120,000 / mo
      ROI:    22.06x
4. WHAT WOULD MAKE THIS NUMBER WRONG?
   - If usage saturates (everyone already at theoretical max): multipliers should be 1.00. ROI stays flat, not falls.
   - If activation rate drops as you scale: ROI falls proportionally. The model assumes activation holds at 66.0%; sensitivity-test by halving it.
   - If license cost rises with scale: shouldn’t happen with E-class agreements, but worth flagging.
5. TALKING POINTS
   - "Today we run at 14.2x. At 2× scale with a modest 10% per-user lift, we go to 15.7x. The lever is per-user actions, not the user count."
   - "The user count actually cancels out of the ROI ratio. What drives expansion ROI is the *behavioral* lift from broader culture."
   - "Even if you don’t buy the network-effect lift, this slide still gives you flat 14.2x at any scale — that’s the floor."
6. STRESS-TEST QUESTIONS YOU SHOULD BE READY FOR
   Q: "How do you know +55% is realistic and not 0%?"
   A: We don’t know exactly. The shape (logarithmic) is standard; the magnitude is calibrated to be conservative against Microsoft published case studies.
       The floor case (multiplier = 1.00) still gives 14.2x. We’re not betting the case on the lift.
   Q: "Aren’t you double-counting — more users AND more actions/user?"
   A: No. The "more users" expands the base. The multiplier only models BEHAVIORAL change in per-user actions, which is a separate measurable phenomenon.
   Q: "Why does ROI grow when both numerator and denominator scale with users?"
   A: They cancel. ROI grows ONLY because per-user actions rise. Without the multiplier, ROI would be flat at any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Three strategic actions:
1. Replicate top-tier playbooks: Codify what Northwind Traders and top performers do differently — power user ratios, prompt patterns, weekly cadence. Package as an enablement kit for mid-tier Organization.
2. Lift the bottom 25% tier: 43 users currently at 0.0x ROI. Targeted coaching to lift them to the median tier (4.5x) adds significant monthly value at zero incremental license cost — same seats, more usage.
3. Expand licensed footprint: Each 1,000 unlicensed seats represents ~$3,521,904/year net gain at a realistic 50%-of-current-productivity ramp (range: $416,381 floor → $7,403,807 at full parity).
CLOSING: "The data is clear. Every dollar works. The question is how fast we scale."
NEXT STEPS:
- Schedule follow-up to discuss expansion timeline
- Identify champion teams for enablement pilot
- Set quarterly review cadence for ROI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32B"/>
        </a:solidFill>
      </p:bgPr>
    </p:bg>
    <p:spTree>
      <p:nvGrpSpPr>
        <p:cNvPr id="1" name=""/>
        <p:cNvGrpSpPr/>
        <p:nvPr/>
      </p:nvGrpSpPr>
      <p:grpSpPr>
        <a:xfrm>
          <a:off x="0" y="0"/>
          <a:ext cx="0" cy="0"/>
          <a:chOff x="0" y="0"/>
          <a:chExt cx="0" cy="0"/>
        </a:xfrm>
      </p:grpSpPr>
      <p:sp>
        <p:nvSpPr>
          <p:cNvPr id="2" name="Shape 0"/>
          <p:cNvSpPr/>
          <p:nvPr/>
        </p:nvSpPr>
        <p:spPr>
          <a:xfrm>
            <a:off x="10515600" y="548640"/>
            <a:ext cx="54864" cy="5760720"/>
          </a:xfrm>
          <a:prstGeom prst="rect">
            <a:avLst/>
          </a:prstGeom>
          <a:solidFill>
            <a:srgbClr val="16335E"/>
          </a:solidFill>
          <a:ln/>
        </p:spPr>
      </p:sp>
      <p:sp>
        <p:nvSpPr>
          <p:cNvPr id="3" name="Shape 1"/>
          <p:cNvSpPr/>
          <p:nvPr/>
        </p:nvSpPr>
        <p:spPr>
          <a:xfrm>
            <a:off x="10808208" y="548640"/>
            <a:ext cx="54864" cy="5760720"/>
          </a:xfrm>
          <a:prstGeom prst="rect">
            <a:avLst/>
          </a:prstGeom>
          <a:solidFill>
            <a:srgbClr val="16335E"/>
          </a:solidFill>
          <a:ln/>
        </p:spPr>
      </p:sp>
      <p:sp>
        <p:nvSpPr>
          <p:cNvPr id="4" name="Shape 2"/>
          <p:cNvSpPr/>
          <p:nvPr/>
        </p:nvSpPr>
        <p:spPr>
          <a:xfrm>
            <a:off x="11100816" y="548640"/>
            <a:ext cx="54864" cy="5760720"/>
          </a:xfrm>
          <a:prstGeom prst="rect">
            <a:avLst/>
          </a:prstGeom>
          <a:solidFill>
            <a:srgbClr val="16335E"/>
          </a:solidFill>
          <a:ln/>
        </p:spPr>
      </p:sp>
      <p:sp>
        <p:nvSpPr>
          <p:cNvPr id="5" name="Shape 3"/>
          <p:cNvSpPr/>
          <p:nvPr/>
        </p:nvSpPr>
        <p:spPr>
          <a:xfrm>
            <a:off x="11393424" y="548640"/>
            <a:ext cx="54864" cy="5760720"/>
          </a:xfrm>
          <a:prstGeom prst="rect">
            <a:avLst/>
          </a:prstGeom>
          <a:solidFill>
            <a:srgbClr val="16335E"/>
          </a:solidFill>
          <a:ln/>
        </p:spPr>
      </p:sp>
      <p:sp>
        <p:nvSpPr>
          <p:cNvPr id="6" name="Shape 4"/>
          <p:cNvSpPr/>
          <p:nvPr/>
        </p:nvSpPr>
        <p:spPr>
          <a:xfrm>
            <a:off x="11686032" y="548640"/>
            <a:ext cx="54864" cy="5760720"/>
          </a:xfrm>
          <a:prstGeom prst="rect">
            <a:avLst/>
          </a:prstGeom>
          <a:solidFill>
            <a:srgbClr val="4FC3F7"/>
          </a:solidFill>
          <a:ln/>
        </p:spPr>
      </p:sp>
      <p:sp>
        <p:nvSpPr>
          <p:cNvPr id="7" name="Text 5"/>
          <p:cNvSpPr/>
          <p:nvPr/>
        </p:nvSpPr>
        <p:spPr>
          <a:xfrm>
            <a:off x="640080" y="914400"/>
            <a:ext cx="7315200" cy="365760"/>
          </a:xfrm>
          <a:prstGeom prst="rect">
            <a:avLst/>
          </a:prstGeom>
          <a:noFill/>
          <a:ln/>
        </p:spPr>
        <p:txBody>
          <a:bodyPr wrap="square" rtlCol="0" anchor="ctr"/>
          <a:lstStyle/>
          <a:p>
            <a:pPr indent="0" marL="0">
              <a:buNone/>
            </a:pPr>
            <a:r>
              <a:rPr lang="en-US" sz="1200" b="1" dirty="0">
                <a:solidFill>
                  <a:srgbClr val="4FC3F7"/>
                </a:solidFill>
                <a:latin typeface="Calibri" pitchFamily="34" charset="0"/>
                <a:ea typeface="Calibri" pitchFamily="34" charset="-122"/>
                <a:cs typeface="Calibri" pitchFamily="34" charset="-120"/>
              </a:rPr>
              <a:t>MICROSOFT 365  |  EXECUTIVE BRIEFING</a:t>
            </a:r>
            <a:endParaRPr lang="en-US" sz="1200" dirty="0"/>
          </a:p>
        </p:txBody>
      </p:sp>
      <p:sp>
        <p:nvSpPr>
          <p:cNvPr id="8" name="Text 6"/>
          <p:cNvSpPr/>
          <p:nvPr/>
        </p:nvSpPr>
        <p:spPr>
          <a:xfrm>
            <a:off x="640080" y="1463040"/>
            <a:ext cx="10058400" cy="100584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M365 Copilot</a:t>
            </a:r>
            <a:endParaRPr lang="en-US" sz="6000" dirty="0"/>
          </a:p>
        </p:txBody>
      </p:sp>
      <p:sp>
        <p:nvSpPr>
          <p:cNvPr id="9" name="Text 7"/>
          <p:cNvSpPr/>
          <p:nvPr/>
        </p:nvSpPr>
        <p:spPr>
          <a:xfrm>
            <a:off x="640080" y="2468880"/>
            <a:ext cx="10058400" cy="914400"/>
          </a:xfrm>
          <a:prstGeom prst="rect">
            <a:avLst/>
          </a:prstGeom>
          <a:noFill/>
          <a:ln/>
        </p:spPr>
        <p:txBody>
          <a:bodyPr wrap="square" rtlCol="0" anchor="ctr"/>
          <a:lstStyle/>
          <a:p>
            <a:pPr indent="0" marL="0">
              <a:buNone/>
            </a:pPr>
            <a:r>
              <a:rPr lang="en-US" sz="4400" dirty="0">
                <a:solidFill>
                  <a:srgbClr val="CADCFC"/>
                </a:solidFill>
                <a:latin typeface="Cambria" pitchFamily="34" charset="0"/>
                <a:ea typeface="Cambria" pitchFamily="34" charset="-122"/>
                <a:cs typeface="Cambria" pitchFamily="34" charset="-120"/>
              </a:rPr>
              <a:t>Productivity ROI Analysis</a:t>
            </a:r>
            <a:endParaRPr lang="en-US" sz="4400" dirty="0"/>
          </a:p>
        </p:txBody>
      </p:sp>
      <p:sp>
        <p:nvSpPr>
          <p:cNvPr id="10" name="Shape 8"/>
          <p:cNvSpPr/>
          <p:nvPr/>
        </p:nvSpPr>
        <p:spPr>
          <a:xfrm>
            <a:off x="640080" y="3657600"/>
            <a:ext cx="1463040" cy="73152"/>
          </a:xfrm>
          <a:prstGeom prst="rect">
            <a:avLst/>
          </a:prstGeom>
          <a:solidFill>
            <a:srgbClr val="4FC3F7"/>
          </a:solidFill>
          <a:ln/>
        </p:spPr>
      </p:sp>
      <p:sp>
        <p:nvSpPr>
          <p:cNvPr id="11" name="Text 9"/>
          <p:cNvSpPr/>
          <p:nvPr/>
        </p:nvSpPr>
        <p:spPr>
          <a:xfrm>
            <a:off x="640080" y="3840480"/>
            <a:ext cx="10058400" cy="731520"/>
          </a:xfrm>
          <a:prstGeom prst="rect">
            <a:avLst/>
          </a:prstGeom>
          <a:noFill/>
          <a:ln/>
        </p:spPr>
        <p:txBody>
          <a:bodyPr wrap="square" rtlCol="0" anchor="ctr"/>
          <a:lstStyle/>
          <a:p>
            <a:pPr indent="0" marL="0">
              <a:buNone/>
            </a:pPr>
            <a:r>
              <a:rPr lang="en-US" sz="2000" dirty="0">
                <a:solidFill>
                  <a:srgbClr val="FFFFFF"/>
                </a:solidFill>
                <a:latin typeface="Calibri" pitchFamily="34" charset="0"/>
                <a:ea typeface="Calibri" pitchFamily="34" charset="-122"/>
                <a:cs typeface="Calibri" pitchFamily="34" charset="-120"/>
              </a:rPr>
              <a:t>$85,402 monthly productivity value across 200 licenses — a 14.2x return</a:t>
            </a:r>
            <a:endParaRPr lang="en-US" sz="2000" dirty="0"/>
          </a:p>
        </p:txBody>
      </p:sp>
      <p:sp>
        <p:nvSpPr>
          <p:cNvPr id="12" name="Text 10"/>
          <p:cNvSpPr/>
          <p:nvPr/>
        </p:nvSpPr>
        <p:spPr>
          <a:xfrm>
            <a:off x="640080" y="4754880"/>
            <a:ext cx="10058400" cy="365760"/>
          </a:xfrm>
          <a:prstGeom prst="rect">
            <a:avLst/>
          </a:prstGeom>
          <a:noFill/>
          <a:ln/>
        </p:spPr>
        <p:txBody>
          <a:bodyPr wrap="square" rtlCol="0" anchor="ctr"/>
          <a:lstStyle/>
          <a:p>
            <a:pPr indent="0" marL="0">
              <a:buNone/>
            </a:pPr>
            <a:r>
              <a:rPr lang="en-US" sz="1300" dirty="0">
                <a:solidFill>
                  <a:srgbClr val="9AB0CC"/>
                </a:solidFill>
                <a:latin typeface="Calibri" pitchFamily="34" charset="0"/>
                <a:ea typeface="Calibri" pitchFamily="34" charset="-122"/>
                <a:cs typeface="Calibri" pitchFamily="34" charset="-120"/>
              </a:rPr>
              <a:t>Based on 4 Organizations  •  16 weeks of data  •  2025-01-06 to 2025-04-21</a:t>
            </a:r>
            <a:endParaRPr lang="en-US" sz="1300" dirty="0"/>
          </a:p>
        </p:txBody>
      </p:sp>
      <p:sp>
        <p:nvSpPr>
          <p:cNvPr id="13" name="Shape 11"/>
          <p:cNvSpPr/>
          <p:nvPr/>
        </p:nvSpPr>
        <p:spPr>
          <a:xfrm>
            <a:off x="0" y="6309360"/>
            <a:ext cx="12188952" cy="548640"/>
          </a:xfrm>
          <a:prstGeom prst="rect">
            <a:avLst/>
          </a:prstGeom>
          <a:solidFill>
            <a:srgbClr val="0B1F3A"/>
          </a:solidFill>
          <a:ln/>
        </p:spPr>
      </p:sp>
      <p:sp>
        <p:nvSpPr>
          <p:cNvPr id="14" name="Text 12"/>
          <p:cNvSpPr/>
          <p:nvPr/>
        </p:nvSpPr>
        <p:spPr>
          <a:xfrm>
            <a:off x="640080" y="6400800"/>
            <a:ext cx="10972800" cy="36576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Generated September 10, 2026  |  Copilot ROI Calculator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548640" y="777240"/>
            <a:ext cx="11155680" cy="5943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Copilot is delivering 14.2x ROI today</a:t>
            </a:r>
            <a:endParaRPr lang="en-US" sz="2800" dirty="0"/>
          </a:p>
        </p:txBody>
      </p:sp>
      <p:sp>
        <p:nvSpPr>
          <p:cNvPr id="4" name="Shape 2"/>
          <p:cNvSpPr/>
          <p:nvPr/>
        </p:nvSpPr>
        <p:spPr>
          <a:xfrm>
            <a:off x="548640" y="1645920"/>
            <a:ext cx="11064240" cy="1280160"/>
          </a:xfrm>
          <a:prstGeom prst="rect">
            <a:avLst/>
          </a:prstGeom>
          <a:solidFill>
            <a:srgbClr val="0F2647"/>
          </a:solidFill>
          <a:ln/>
        </p:spPr>
      </p:sp>
      <p:sp>
        <p:nvSpPr>
          <p:cNvPr id="5" name="Text 3"/>
          <p:cNvSpPr/>
          <p:nvPr/>
        </p:nvSpPr>
        <p:spPr>
          <a:xfrm>
            <a:off x="777240" y="1783080"/>
            <a:ext cx="10607040" cy="1005840"/>
          </a:xfrm>
          <a:prstGeom prst="rect">
            <a:avLst/>
          </a:prstGeom>
          <a:noFill/>
          <a:ln/>
        </p:spPr>
        <p:txBody>
          <a:bodyPr wrap="square" rtlCol="0" anchor="t"/>
          <a:lstStyle/>
          <a:p>
            <a:pPr indent="0" marL="0">
              <a:buNone/>
            </a:pPr>
            <a:r>
              <a:rPr lang="en-US" sz="1800" b="1" dirty="0">
                <a:solidFill>
                  <a:srgbClr val="4FC3F7"/>
                </a:solidFill>
                <a:latin typeface="Calibri" pitchFamily="34" charset="0"/>
                <a:ea typeface="Calibri" pitchFamily="34" charset="-122"/>
                <a:cs typeface="Calibri" pitchFamily="34" charset="-120"/>
              </a:rPr>
              <a:t>200 licenses generate $85,402/month in productivity value at 66.0% adoption — every $1 spent returns $14.23 in measured time savings. 45 power users (22.5%) accelerate adoption through peer learning, and even the lowest-performing tier delivers positive ROI.</a:t>
            </a:r>
            <a:endParaRPr lang="en-US" sz="1800" dirty="0"/>
          </a:p>
        </p:txBody>
      </p:sp>
      <p:sp>
        <p:nvSpPr>
          <p:cNvPr id="6" name="Shape 4"/>
          <p:cNvSpPr/>
          <p:nvPr/>
        </p:nvSpPr>
        <p:spPr>
          <a:xfrm>
            <a:off x="548640" y="3200400"/>
            <a:ext cx="3520440" cy="2377440"/>
          </a:xfrm>
          <a:prstGeom prst="rect">
            <a:avLst/>
          </a:prstGeom>
          <a:solidFill>
            <a:srgbClr val="0F2647"/>
          </a:solidFill>
          <a:ln/>
        </p:spPr>
      </p:sp>
      <p:sp>
        <p:nvSpPr>
          <p:cNvPr id="7" name="Shape 5"/>
          <p:cNvSpPr/>
          <p:nvPr/>
        </p:nvSpPr>
        <p:spPr>
          <a:xfrm>
            <a:off x="548640" y="3200400"/>
            <a:ext cx="73152" cy="2377440"/>
          </a:xfrm>
          <a:prstGeom prst="rect">
            <a:avLst/>
          </a:prstGeom>
          <a:solidFill>
            <a:srgbClr val="4ADE80"/>
          </a:solidFill>
          <a:ln/>
        </p:spPr>
      </p:sp>
      <p:sp>
        <p:nvSpPr>
          <p:cNvPr id="8" name="Text 6"/>
          <p:cNvSpPr/>
          <p:nvPr/>
        </p:nvSpPr>
        <p:spPr>
          <a:xfrm>
            <a:off x="822960" y="3429000"/>
            <a:ext cx="310896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Strong adoption</a:t>
            </a:r>
            <a:endParaRPr lang="en-US" sz="1800" dirty="0"/>
          </a:p>
        </p:txBody>
      </p:sp>
      <p:sp>
        <p:nvSpPr>
          <p:cNvPr id="9" name="Text 7"/>
          <p:cNvSpPr/>
          <p:nvPr/>
        </p:nvSpPr>
        <p:spPr>
          <a:xfrm>
            <a:off x="822960" y="3977640"/>
            <a:ext cx="3108960" cy="1371600"/>
          </a:xfrm>
          <a:prstGeom prst="rect">
            <a:avLst/>
          </a:prstGeom>
          <a:noFill/>
          <a:ln/>
        </p:spPr>
        <p:txBody>
          <a:bodyPr wrap="square" rtlCol="0" anchor="t"/>
          <a:lstStyle/>
          <a:p>
            <a:pPr indent="0" marL="0">
              <a:buNone/>
            </a:pPr>
            <a:r>
              <a:rPr lang="en-US" sz="1300" dirty="0">
                <a:solidFill>
                  <a:srgbClr val="CADCFC"/>
                </a:solidFill>
                <a:latin typeface="Calibri" pitchFamily="34" charset="0"/>
                <a:ea typeface="Calibri" pitchFamily="34" charset="-122"/>
                <a:cs typeface="Calibri" pitchFamily="34" charset="-120"/>
              </a:rPr>
              <a:t>132 of 200 licensed users are active weekly. Power users (22.5%) average 20+ actions per week and model behavior for peers.</a:t>
            </a:r>
            <a:endParaRPr lang="en-US" sz="1300" dirty="0"/>
          </a:p>
        </p:txBody>
      </p:sp>
      <p:sp>
        <p:nvSpPr>
          <p:cNvPr id="10" name="Shape 8"/>
          <p:cNvSpPr/>
          <p:nvPr/>
        </p:nvSpPr>
        <p:spPr>
          <a:xfrm>
            <a:off x="4297680" y="3200400"/>
            <a:ext cx="3520440" cy="2377440"/>
          </a:xfrm>
          <a:prstGeom prst="rect">
            <a:avLst/>
          </a:prstGeom>
          <a:solidFill>
            <a:srgbClr val="0F2647"/>
          </a:solidFill>
          <a:ln/>
        </p:spPr>
      </p:sp>
      <p:sp>
        <p:nvSpPr>
          <p:cNvPr id="11" name="Shape 9"/>
          <p:cNvSpPr/>
          <p:nvPr/>
        </p:nvSpPr>
        <p:spPr>
          <a:xfrm>
            <a:off x="4297680" y="3200400"/>
            <a:ext cx="73152" cy="2377440"/>
          </a:xfrm>
          <a:prstGeom prst="rect">
            <a:avLst/>
          </a:prstGeom>
          <a:solidFill>
            <a:srgbClr val="4FC3F7"/>
          </a:solidFill>
          <a:ln/>
        </p:spPr>
      </p:sp>
      <p:sp>
        <p:nvSpPr>
          <p:cNvPr id="12" name="Text 10"/>
          <p:cNvSpPr/>
          <p:nvPr/>
        </p:nvSpPr>
        <p:spPr>
          <a:xfrm>
            <a:off x="4572000" y="3429000"/>
            <a:ext cx="310896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Every tier is profitable</a:t>
            </a:r>
            <a:endParaRPr lang="en-US" sz="1800" dirty="0"/>
          </a:p>
        </p:txBody>
      </p:sp>
      <p:sp>
        <p:nvSpPr>
          <p:cNvPr id="13" name="Text 11"/>
          <p:cNvSpPr/>
          <p:nvPr/>
        </p:nvSpPr>
        <p:spPr>
          <a:xfrm>
            <a:off x="4572000" y="3977640"/>
            <a:ext cx="3108960" cy="1371600"/>
          </a:xfrm>
          <a:prstGeom prst="rect">
            <a:avLst/>
          </a:prstGeom>
          <a:noFill/>
          <a:ln/>
        </p:spPr>
        <p:txBody>
          <a:bodyPr wrap="square" rtlCol="0" anchor="t"/>
          <a:lstStyle/>
          <a:p>
            <a:pPr indent="0" marL="0">
              <a:buNone/>
            </a:pPr>
            <a:r>
              <a:rPr lang="en-US" sz="1300" dirty="0">
                <a:solidFill>
                  <a:srgbClr val="CADCFC"/>
                </a:solidFill>
                <a:latin typeface="Calibri" pitchFamily="34" charset="0"/>
                <a:ea typeface="Calibri" pitchFamily="34" charset="-122"/>
                <a:cs typeface="Calibri" pitchFamily="34" charset="-120"/>
              </a:rPr>
              <a:t>Even bottom-25% users return 0.0x. Top performers reach 44.4x. The investment carries no underwater segment.</a:t>
            </a:r>
            <a:endParaRPr lang="en-US" sz="1300" dirty="0"/>
          </a:p>
        </p:txBody>
      </p:sp>
      <p:sp>
        <p:nvSpPr>
          <p:cNvPr id="14" name="Shape 12"/>
          <p:cNvSpPr/>
          <p:nvPr/>
        </p:nvSpPr>
        <p:spPr>
          <a:xfrm>
            <a:off x="8046720" y="3200400"/>
            <a:ext cx="3520440" cy="2377440"/>
          </a:xfrm>
          <a:prstGeom prst="rect">
            <a:avLst/>
          </a:prstGeom>
          <a:solidFill>
            <a:srgbClr val="0F2647"/>
          </a:solidFill>
          <a:ln/>
        </p:spPr>
      </p:sp>
      <p:sp>
        <p:nvSpPr>
          <p:cNvPr id="15" name="Shape 13"/>
          <p:cNvSpPr/>
          <p:nvPr/>
        </p:nvSpPr>
        <p:spPr>
          <a:xfrm>
            <a:off x="8046720" y="3200400"/>
            <a:ext cx="73152" cy="2377440"/>
          </a:xfrm>
          <a:prstGeom prst="rect">
            <a:avLst/>
          </a:prstGeom>
          <a:solidFill>
            <a:srgbClr val="F5C451"/>
          </a:solidFill>
          <a:ln/>
        </p:spPr>
      </p:sp>
      <p:sp>
        <p:nvSpPr>
          <p:cNvPr id="16" name="Text 14"/>
          <p:cNvSpPr/>
          <p:nvPr/>
        </p:nvSpPr>
        <p:spPr>
          <a:xfrm>
            <a:off x="8321040" y="3429000"/>
            <a:ext cx="310896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Headroom for expansion</a:t>
            </a:r>
            <a:endParaRPr lang="en-US" sz="1800" dirty="0"/>
          </a:p>
        </p:txBody>
      </p:sp>
      <p:sp>
        <p:nvSpPr>
          <p:cNvPr id="17" name="Text 15"/>
          <p:cNvSpPr/>
          <p:nvPr/>
        </p:nvSpPr>
        <p:spPr>
          <a:xfrm>
            <a:off x="8321040" y="3977640"/>
            <a:ext cx="3108960" cy="1371600"/>
          </a:xfrm>
          <a:prstGeom prst="rect">
            <a:avLst/>
          </a:prstGeom>
          <a:noFill/>
          <a:ln/>
        </p:spPr>
        <p:txBody>
          <a:bodyPr wrap="square" rtlCol="0" anchor="t"/>
          <a:lstStyle/>
          <a:p>
            <a:pPr indent="0" marL="0">
              <a:buNone/>
            </a:pPr>
            <a:r>
              <a:rPr lang="en-US" sz="1300" dirty="0">
                <a:solidFill>
                  <a:srgbClr val="CADCFC"/>
                </a:solidFill>
                <a:latin typeface="Calibri" pitchFamily="34" charset="0"/>
                <a:ea typeface="Calibri" pitchFamily="34" charset="-122"/>
                <a:cs typeface="Calibri" pitchFamily="34" charset="-120"/>
              </a:rPr>
              <a:t>Each 1,000 unlicensed users → ~$3,521,904/year NET GAIN at a realistic 50%-of-current-productivity ramp (see Slide 7 for floor and parity cases).</a:t>
            </a:r>
            <a:endParaRPr lang="en-US" sz="1300" dirty="0"/>
          </a:p>
        </p:txBody>
      </p:sp>
      <p:sp>
        <p:nvSpPr>
          <p:cNvPr id="18" name="Text 16"/>
          <p:cNvSpPr/>
          <p:nvPr/>
        </p:nvSpPr>
        <p:spPr>
          <a:xfrm>
            <a:off x="548640" y="5852160"/>
            <a:ext cx="11064240" cy="274320"/>
          </a:xfrm>
          <a:prstGeom prst="rect">
            <a:avLst/>
          </a:prstGeom>
          <a:noFill/>
          <a:ln/>
        </p:spPr>
        <p:txBody>
          <a:bodyPr wrap="square" rtlCol="0" anchor="ctr"/>
          <a:lstStyle/>
          <a:p>
            <a:pPr indent="0" marL="0">
              <a:buNone/>
            </a:pPr>
            <a:r>
              <a:rPr lang="en-US" sz="1000" dirty="0">
                <a:solidFill>
                  <a:srgbClr val="9AB0CC"/>
                </a:solidFill>
                <a:latin typeface="Calibri" pitchFamily="34" charset="0"/>
                <a:ea typeface="Calibri" pitchFamily="34" charset="-122"/>
                <a:cs typeface="Calibri" pitchFamily="34" charset="-120"/>
              </a:rPr>
              <a:t>Calculation: 10,949 monthly actions × 6 min ÷ 60 × $78/hr = $85,402 productivity value</a:t>
            </a:r>
            <a:endParaRPr lang="en-US" sz="1000" dirty="0"/>
          </a:p>
        </p:txBody>
      </p:sp>
      <p:sp>
        <p:nvSpPr>
          <p:cNvPr id="19" name="Text 17"/>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M365 Copilot ROI Analysis  |  16 weeks  |  4 Organization</a:t>
            </a:r>
            <a:endParaRPr lang="en-US" sz="900" dirty="0"/>
          </a:p>
        </p:txBody>
      </p:sp>
      <p:sp>
        <p:nvSpPr>
          <p:cNvPr id="20" name="Text 18"/>
          <p:cNvSpPr/>
          <p:nvPr/>
        </p:nvSpPr>
        <p:spPr>
          <a:xfrm>
            <a:off x="11155680" y="6537960"/>
            <a:ext cx="548640" cy="274320"/>
          </a:xfrm>
          <a:prstGeom prst="rect">
            <a:avLst/>
          </a:prstGeom>
          <a:noFill/>
          <a:ln/>
        </p:spPr>
        <p:txBody>
          <a:bodyPr wrap="square" rtlCol="0" anchor="ctr"/>
          <a:lstStyle/>
          <a:p>
            <a:pPr algn="r" indent="0" marL="0">
              <a:buNone/>
            </a:pPr>
            <a:r>
              <a:rPr lang="en-US" sz="900" dirty="0">
                <a:solidFill>
                  <a:srgbClr val="9AB0CC"/>
                </a:solidFill>
                <a:latin typeface="Calibri" pitchFamily="34" charset="0"/>
                <a:ea typeface="Calibri" pitchFamily="34" charset="-122"/>
                <a:cs typeface="Calibri"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KEY METRICS  •  LAST 16 WEEKS</a:t>
            </a:r>
            <a:endParaRPr lang="en-US" sz="1100" dirty="0"/>
          </a:p>
        </p:txBody>
      </p:sp>
      <p:sp>
        <p:nvSpPr>
          <p:cNvPr id="3" name="Text 1"/>
          <p:cNvSpPr/>
          <p:nvPr/>
        </p:nvSpPr>
        <p:spPr>
          <a:xfrm>
            <a:off x="548640" y="777240"/>
            <a:ext cx="11155680" cy="5943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The numbers behind the return</a:t>
            </a:r>
            <a:endParaRPr lang="en-US" sz="2800" dirty="0"/>
          </a:p>
        </p:txBody>
      </p:sp>
      <p:sp>
        <p:nvSpPr>
          <p:cNvPr id="4" name="Shape 2"/>
          <p:cNvSpPr/>
          <p:nvPr/>
        </p:nvSpPr>
        <p:spPr>
          <a:xfrm>
            <a:off x="548640" y="1645920"/>
            <a:ext cx="5532120" cy="1554480"/>
          </a:xfrm>
          <a:prstGeom prst="rect">
            <a:avLst/>
          </a:prstGeom>
          <a:solidFill>
            <a:srgbClr val="0F2647"/>
          </a:solidFill>
          <a:ln/>
        </p:spPr>
      </p:sp>
      <p:sp>
        <p:nvSpPr>
          <p:cNvPr id="5" name="Text 3"/>
          <p:cNvSpPr/>
          <p:nvPr/>
        </p:nvSpPr>
        <p:spPr>
          <a:xfrm>
            <a:off x="777240" y="1828800"/>
            <a:ext cx="507492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MONTHLY ROI MULTIPLE</a:t>
            </a:r>
            <a:endParaRPr lang="en-US" sz="1000" dirty="0"/>
          </a:p>
        </p:txBody>
      </p:sp>
      <p:sp>
        <p:nvSpPr>
          <p:cNvPr id="6" name="Text 4"/>
          <p:cNvSpPr/>
          <p:nvPr/>
        </p:nvSpPr>
        <p:spPr>
          <a:xfrm>
            <a:off x="777240" y="2148840"/>
            <a:ext cx="5074920" cy="640080"/>
          </a:xfrm>
          <a:prstGeom prst="rect">
            <a:avLst/>
          </a:prstGeom>
          <a:noFill/>
          <a:ln/>
        </p:spPr>
        <p:txBody>
          <a:bodyPr wrap="square" rtlCol="0" anchor="ctr"/>
          <a:lstStyle/>
          <a:p>
            <a:pPr indent="0" marL="0">
              <a:buNone/>
            </a:pPr>
            <a:r>
              <a:rPr lang="en-US" sz="3600" b="1" dirty="0">
                <a:solidFill>
                  <a:srgbClr val="4ADE80"/>
                </a:solidFill>
                <a:latin typeface="Cambria" pitchFamily="34" charset="0"/>
                <a:ea typeface="Cambria" pitchFamily="34" charset="-122"/>
                <a:cs typeface="Cambria" pitchFamily="34" charset="-120"/>
              </a:rPr>
              <a:t>14.2x</a:t>
            </a:r>
            <a:endParaRPr lang="en-US" sz="3600" dirty="0"/>
          </a:p>
        </p:txBody>
      </p:sp>
      <p:sp>
        <p:nvSpPr>
          <p:cNvPr id="7" name="Text 5"/>
          <p:cNvSpPr/>
          <p:nvPr/>
        </p:nvSpPr>
        <p:spPr>
          <a:xfrm>
            <a:off x="777240" y="2697480"/>
            <a:ext cx="50749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$85,402 / mo  ÷  $6,000 / mo cost</a:t>
            </a:r>
            <a:endParaRPr lang="en-US" sz="1000" dirty="0"/>
          </a:p>
        </p:txBody>
      </p:sp>
      <p:sp>
        <p:nvSpPr>
          <p:cNvPr id="8" name="Shape 6"/>
          <p:cNvSpPr/>
          <p:nvPr/>
        </p:nvSpPr>
        <p:spPr>
          <a:xfrm>
            <a:off x="6172200" y="1645920"/>
            <a:ext cx="5532120" cy="1554480"/>
          </a:xfrm>
          <a:prstGeom prst="rect">
            <a:avLst/>
          </a:prstGeom>
          <a:solidFill>
            <a:srgbClr val="0F2647"/>
          </a:solidFill>
          <a:ln/>
        </p:spPr>
      </p:sp>
      <p:sp>
        <p:nvSpPr>
          <p:cNvPr id="9" name="Text 7"/>
          <p:cNvSpPr/>
          <p:nvPr/>
        </p:nvSpPr>
        <p:spPr>
          <a:xfrm>
            <a:off x="6400800" y="1828800"/>
            <a:ext cx="507492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MONTHLY PRODUCTIVITY VALUE</a:t>
            </a:r>
            <a:endParaRPr lang="en-US" sz="1000" dirty="0"/>
          </a:p>
        </p:txBody>
      </p:sp>
      <p:sp>
        <p:nvSpPr>
          <p:cNvPr id="10" name="Text 8"/>
          <p:cNvSpPr/>
          <p:nvPr/>
        </p:nvSpPr>
        <p:spPr>
          <a:xfrm>
            <a:off x="6400800" y="2148840"/>
            <a:ext cx="5074920" cy="640080"/>
          </a:xfrm>
          <a:prstGeom prst="rect">
            <a:avLst/>
          </a:prstGeom>
          <a:noFill/>
          <a:ln/>
        </p:spPr>
        <p:txBody>
          <a:bodyPr wrap="square" rtlCol="0" anchor="ctr"/>
          <a:lstStyle/>
          <a:p>
            <a:pPr indent="0" marL="0">
              <a:buNone/>
            </a:pPr>
            <a:r>
              <a:rPr lang="en-US" sz="3600" b="1" dirty="0">
                <a:solidFill>
                  <a:srgbClr val="4FC3F7"/>
                </a:solidFill>
                <a:latin typeface="Cambria" pitchFamily="34" charset="0"/>
                <a:ea typeface="Cambria" pitchFamily="34" charset="-122"/>
                <a:cs typeface="Cambria" pitchFamily="34" charset="-120"/>
              </a:rPr>
              <a:t>$85,402</a:t>
            </a:r>
            <a:endParaRPr lang="en-US" sz="3600" dirty="0"/>
          </a:p>
        </p:txBody>
      </p:sp>
      <p:sp>
        <p:nvSpPr>
          <p:cNvPr id="11" name="Text 9"/>
          <p:cNvSpPr/>
          <p:nvPr/>
        </p:nvSpPr>
        <p:spPr>
          <a:xfrm>
            <a:off x="6400800" y="2697480"/>
            <a:ext cx="50749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$1.02M / year  •  $19,723 / week</a:t>
            </a:r>
            <a:endParaRPr lang="en-US" sz="1000" dirty="0"/>
          </a:p>
        </p:txBody>
      </p:sp>
      <p:sp>
        <p:nvSpPr>
          <p:cNvPr id="12" name="Shape 10"/>
          <p:cNvSpPr/>
          <p:nvPr/>
        </p:nvSpPr>
        <p:spPr>
          <a:xfrm>
            <a:off x="548640" y="3337560"/>
            <a:ext cx="3611880" cy="1463040"/>
          </a:xfrm>
          <a:prstGeom prst="rect">
            <a:avLst/>
          </a:prstGeom>
          <a:solidFill>
            <a:srgbClr val="0F2647"/>
          </a:solidFill>
          <a:ln/>
        </p:spPr>
      </p:sp>
      <p:sp>
        <p:nvSpPr>
          <p:cNvPr id="13" name="Text 11"/>
          <p:cNvSpPr/>
          <p:nvPr/>
        </p:nvSpPr>
        <p:spPr>
          <a:xfrm>
            <a:off x="777240" y="3520440"/>
            <a:ext cx="315468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ADOPTION RATE</a:t>
            </a:r>
            <a:endParaRPr lang="en-US" sz="1000" dirty="0"/>
          </a:p>
        </p:txBody>
      </p:sp>
      <p:sp>
        <p:nvSpPr>
          <p:cNvPr id="14" name="Text 12"/>
          <p:cNvSpPr/>
          <p:nvPr/>
        </p:nvSpPr>
        <p:spPr>
          <a:xfrm>
            <a:off x="777240" y="3840480"/>
            <a:ext cx="3154680" cy="548640"/>
          </a:xfrm>
          <a:prstGeom prst="rect">
            <a:avLst/>
          </a:prstGeom>
          <a:noFill/>
          <a:ln/>
        </p:spPr>
        <p:txBody>
          <a:bodyPr wrap="square" rtlCol="0" anchor="ctr"/>
          <a:lstStyle/>
          <a:p>
            <a:pPr indent="0" marL="0">
              <a:buNone/>
            </a:pPr>
            <a:r>
              <a:rPr lang="en-US" sz="3600" b="1" dirty="0">
                <a:solidFill>
                  <a:srgbClr val="4FC3F7"/>
                </a:solidFill>
                <a:latin typeface="Cambria" pitchFamily="34" charset="0"/>
                <a:ea typeface="Cambria" pitchFamily="34" charset="-122"/>
                <a:cs typeface="Cambria" pitchFamily="34" charset="-120"/>
              </a:rPr>
              <a:t>66.0%</a:t>
            </a:r>
            <a:endParaRPr lang="en-US" sz="3600" dirty="0"/>
          </a:p>
        </p:txBody>
      </p:sp>
      <p:sp>
        <p:nvSpPr>
          <p:cNvPr id="15" name="Text 13"/>
          <p:cNvSpPr/>
          <p:nvPr/>
        </p:nvSpPr>
        <p:spPr>
          <a:xfrm>
            <a:off x="777240" y="4297680"/>
            <a:ext cx="315468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132 of 200 licensed users active</a:t>
            </a:r>
            <a:endParaRPr lang="en-US" sz="1000" dirty="0"/>
          </a:p>
        </p:txBody>
      </p:sp>
      <p:sp>
        <p:nvSpPr>
          <p:cNvPr id="16" name="Shape 14"/>
          <p:cNvSpPr/>
          <p:nvPr/>
        </p:nvSpPr>
        <p:spPr>
          <a:xfrm>
            <a:off x="4297680" y="3337560"/>
            <a:ext cx="3611880" cy="1463040"/>
          </a:xfrm>
          <a:prstGeom prst="rect">
            <a:avLst/>
          </a:prstGeom>
          <a:solidFill>
            <a:srgbClr val="0F2647"/>
          </a:solidFill>
          <a:ln/>
        </p:spPr>
      </p:sp>
      <p:sp>
        <p:nvSpPr>
          <p:cNvPr id="17" name="Text 15"/>
          <p:cNvSpPr/>
          <p:nvPr/>
        </p:nvSpPr>
        <p:spPr>
          <a:xfrm>
            <a:off x="4526280" y="3520440"/>
            <a:ext cx="315468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WEEKLY ACTIONS / USER</a:t>
            </a:r>
            <a:endParaRPr lang="en-US" sz="1000" dirty="0"/>
          </a:p>
        </p:txBody>
      </p:sp>
      <p:sp>
        <p:nvSpPr>
          <p:cNvPr id="18" name="Text 16"/>
          <p:cNvSpPr/>
          <p:nvPr/>
        </p:nvSpPr>
        <p:spPr>
          <a:xfrm>
            <a:off x="4526280" y="3840480"/>
            <a:ext cx="3154680" cy="548640"/>
          </a:xfrm>
          <a:prstGeom prst="rect">
            <a:avLst/>
          </a:prstGeom>
          <a:noFill/>
          <a:ln/>
        </p:spPr>
        <p:txBody>
          <a:bodyPr wrap="square" rtlCol="0" anchor="ctr"/>
          <a:lstStyle/>
          <a:p>
            <a:pPr indent="0" marL="0">
              <a:buNone/>
            </a:pPr>
            <a:r>
              <a:rPr lang="en-US" sz="3600" b="1" dirty="0">
                <a:solidFill>
                  <a:srgbClr val="4ADE80"/>
                </a:solidFill>
                <a:latin typeface="Cambria" pitchFamily="34" charset="0"/>
                <a:ea typeface="Cambria" pitchFamily="34" charset="-122"/>
                <a:cs typeface="Cambria" pitchFamily="34" charset="-120"/>
              </a:rPr>
              <a:t>19.2</a:t>
            </a:r>
            <a:endParaRPr lang="en-US" sz="3600" dirty="0"/>
          </a:p>
        </p:txBody>
      </p:sp>
      <p:sp>
        <p:nvSpPr>
          <p:cNvPr id="19" name="Text 17"/>
          <p:cNvSpPr/>
          <p:nvPr/>
        </p:nvSpPr>
        <p:spPr>
          <a:xfrm>
            <a:off x="4526280" y="4297680"/>
            <a:ext cx="315468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83 / month</a:t>
            </a:r>
            <a:endParaRPr lang="en-US" sz="1000" dirty="0"/>
          </a:p>
        </p:txBody>
      </p:sp>
      <p:sp>
        <p:nvSpPr>
          <p:cNvPr id="20" name="Shape 18"/>
          <p:cNvSpPr/>
          <p:nvPr/>
        </p:nvSpPr>
        <p:spPr>
          <a:xfrm>
            <a:off x="8046720" y="3337560"/>
            <a:ext cx="3611880" cy="1463040"/>
          </a:xfrm>
          <a:prstGeom prst="rect">
            <a:avLst/>
          </a:prstGeom>
          <a:solidFill>
            <a:srgbClr val="0F2647"/>
          </a:solidFill>
          <a:ln/>
        </p:spPr>
      </p:sp>
      <p:sp>
        <p:nvSpPr>
          <p:cNvPr id="21" name="Text 19"/>
          <p:cNvSpPr/>
          <p:nvPr/>
        </p:nvSpPr>
        <p:spPr>
          <a:xfrm>
            <a:off x="8275320" y="3520440"/>
            <a:ext cx="315468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POWER USER RATE</a:t>
            </a:r>
            <a:endParaRPr lang="en-US" sz="1000" dirty="0"/>
          </a:p>
        </p:txBody>
      </p:sp>
      <p:sp>
        <p:nvSpPr>
          <p:cNvPr id="22" name="Text 20"/>
          <p:cNvSpPr/>
          <p:nvPr/>
        </p:nvSpPr>
        <p:spPr>
          <a:xfrm>
            <a:off x="8275320" y="3840480"/>
            <a:ext cx="3154680" cy="548640"/>
          </a:xfrm>
          <a:prstGeom prst="rect">
            <a:avLst/>
          </a:prstGeom>
          <a:noFill/>
          <a:ln/>
        </p:spPr>
        <p:txBody>
          <a:bodyPr wrap="square" rtlCol="0" anchor="ctr"/>
          <a:lstStyle/>
          <a:p>
            <a:pPr indent="0" marL="0">
              <a:buNone/>
            </a:pPr>
            <a:r>
              <a:rPr lang="en-US" sz="3600" b="1" dirty="0">
                <a:solidFill>
                  <a:srgbClr val="4FC3F7"/>
                </a:solidFill>
                <a:latin typeface="Cambria" pitchFamily="34" charset="0"/>
                <a:ea typeface="Cambria" pitchFamily="34" charset="-122"/>
                <a:cs typeface="Cambria" pitchFamily="34" charset="-120"/>
              </a:rPr>
              <a:t>22.5%</a:t>
            </a:r>
            <a:endParaRPr lang="en-US" sz="3600" dirty="0"/>
          </a:p>
        </p:txBody>
      </p:sp>
      <p:sp>
        <p:nvSpPr>
          <p:cNvPr id="23" name="Text 21"/>
          <p:cNvSpPr/>
          <p:nvPr/>
        </p:nvSpPr>
        <p:spPr>
          <a:xfrm>
            <a:off x="8275320" y="4297680"/>
            <a:ext cx="315468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45 power users (20+ actions/wk)</a:t>
            </a:r>
            <a:endParaRPr lang="en-US" sz="1000" dirty="0"/>
          </a:p>
        </p:txBody>
      </p:sp>
      <p:sp>
        <p:nvSpPr>
          <p:cNvPr id="24" name="Shape 22"/>
          <p:cNvSpPr/>
          <p:nvPr/>
        </p:nvSpPr>
        <p:spPr>
          <a:xfrm>
            <a:off x="548640" y="4937760"/>
            <a:ext cx="3611880" cy="1371600"/>
          </a:xfrm>
          <a:prstGeom prst="rect">
            <a:avLst/>
          </a:prstGeom>
          <a:solidFill>
            <a:srgbClr val="0F2647"/>
          </a:solidFill>
          <a:ln/>
        </p:spPr>
      </p:sp>
      <p:sp>
        <p:nvSpPr>
          <p:cNvPr id="25" name="Text 23"/>
          <p:cNvSpPr/>
          <p:nvPr/>
        </p:nvSpPr>
        <p:spPr>
          <a:xfrm>
            <a:off x="777240" y="5120640"/>
            <a:ext cx="315468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ENABLED USERS</a:t>
            </a:r>
            <a:endParaRPr lang="en-US" sz="1000" dirty="0"/>
          </a:p>
        </p:txBody>
      </p:sp>
      <p:sp>
        <p:nvSpPr>
          <p:cNvPr id="26" name="Text 24"/>
          <p:cNvSpPr/>
          <p:nvPr/>
        </p:nvSpPr>
        <p:spPr>
          <a:xfrm>
            <a:off x="777240" y="5440680"/>
            <a:ext cx="3154680" cy="457200"/>
          </a:xfrm>
          <a:prstGeom prst="rect">
            <a:avLst/>
          </a:prstGeom>
          <a:noFill/>
          <a:ln/>
        </p:spPr>
        <p:txBody>
          <a:bodyPr wrap="square" rtlCol="0" anchor="ctr"/>
          <a:lstStyle/>
          <a:p>
            <a:pPr indent="0" marL="0">
              <a:buNone/>
            </a:pPr>
            <a:r>
              <a:rPr lang="en-US" sz="3600" b="1" dirty="0">
                <a:solidFill>
                  <a:srgbClr val="CADCFC"/>
                </a:solidFill>
                <a:latin typeface="Cambria" pitchFamily="34" charset="0"/>
                <a:ea typeface="Cambria" pitchFamily="34" charset="-122"/>
                <a:cs typeface="Cambria" pitchFamily="34" charset="-120"/>
              </a:rPr>
              <a:t>200</a:t>
            </a:r>
            <a:endParaRPr lang="en-US" sz="3600" dirty="0"/>
          </a:p>
        </p:txBody>
      </p:sp>
      <p:sp>
        <p:nvSpPr>
          <p:cNvPr id="27" name="Text 25"/>
          <p:cNvSpPr/>
          <p:nvPr/>
        </p:nvSpPr>
        <p:spPr>
          <a:xfrm>
            <a:off x="777240" y="5806440"/>
            <a:ext cx="315468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Licensed for Copilot</a:t>
            </a:r>
            <a:endParaRPr lang="en-US" sz="1000" dirty="0"/>
          </a:p>
        </p:txBody>
      </p:sp>
      <p:sp>
        <p:nvSpPr>
          <p:cNvPr id="28" name="Shape 26"/>
          <p:cNvSpPr/>
          <p:nvPr/>
        </p:nvSpPr>
        <p:spPr>
          <a:xfrm>
            <a:off x="4297680" y="4937760"/>
            <a:ext cx="3611880" cy="1371600"/>
          </a:xfrm>
          <a:prstGeom prst="rect">
            <a:avLst/>
          </a:prstGeom>
          <a:solidFill>
            <a:srgbClr val="0F2647"/>
          </a:solidFill>
          <a:ln/>
        </p:spPr>
      </p:sp>
      <p:sp>
        <p:nvSpPr>
          <p:cNvPr id="29" name="Text 27"/>
          <p:cNvSpPr/>
          <p:nvPr/>
        </p:nvSpPr>
        <p:spPr>
          <a:xfrm>
            <a:off x="4526280" y="5120640"/>
            <a:ext cx="315468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WEEKLY HOURS SAVED</a:t>
            </a:r>
            <a:endParaRPr lang="en-US" sz="1000" dirty="0"/>
          </a:p>
        </p:txBody>
      </p:sp>
      <p:sp>
        <p:nvSpPr>
          <p:cNvPr id="30" name="Text 28"/>
          <p:cNvSpPr/>
          <p:nvPr/>
        </p:nvSpPr>
        <p:spPr>
          <a:xfrm>
            <a:off x="4526280" y="5440680"/>
            <a:ext cx="3154680" cy="457200"/>
          </a:xfrm>
          <a:prstGeom prst="rect">
            <a:avLst/>
          </a:prstGeom>
          <a:noFill/>
          <a:ln/>
        </p:spPr>
        <p:txBody>
          <a:bodyPr wrap="square" rtlCol="0" anchor="ctr"/>
          <a:lstStyle/>
          <a:p>
            <a:pPr indent="0" marL="0">
              <a:buNone/>
            </a:pPr>
            <a:r>
              <a:rPr lang="en-US" sz="3600" b="1" dirty="0">
                <a:solidFill>
                  <a:srgbClr val="4ADE80"/>
                </a:solidFill>
                <a:latin typeface="Cambria" pitchFamily="34" charset="0"/>
                <a:ea typeface="Cambria" pitchFamily="34" charset="-122"/>
                <a:cs typeface="Cambria" pitchFamily="34" charset="-120"/>
              </a:rPr>
              <a:t>253</a:t>
            </a:r>
            <a:endParaRPr lang="en-US" sz="3600" dirty="0"/>
          </a:p>
        </p:txBody>
      </p:sp>
      <p:sp>
        <p:nvSpPr>
          <p:cNvPr id="31" name="Text 29"/>
          <p:cNvSpPr/>
          <p:nvPr/>
        </p:nvSpPr>
        <p:spPr>
          <a:xfrm>
            <a:off x="4526280" y="5806440"/>
            <a:ext cx="315468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2,529 actions × 6 min ÷ 60</a:t>
            </a:r>
            <a:endParaRPr lang="en-US" sz="1000" dirty="0"/>
          </a:p>
        </p:txBody>
      </p:sp>
      <p:sp>
        <p:nvSpPr>
          <p:cNvPr id="32" name="Shape 30"/>
          <p:cNvSpPr/>
          <p:nvPr/>
        </p:nvSpPr>
        <p:spPr>
          <a:xfrm>
            <a:off x="8046720" y="4937760"/>
            <a:ext cx="3611880" cy="1371600"/>
          </a:xfrm>
          <a:prstGeom prst="rect">
            <a:avLst/>
          </a:prstGeom>
          <a:solidFill>
            <a:srgbClr val="0F2647"/>
          </a:solidFill>
          <a:ln/>
        </p:spPr>
      </p:sp>
      <p:sp>
        <p:nvSpPr>
          <p:cNvPr id="33" name="Text 31"/>
          <p:cNvSpPr/>
          <p:nvPr/>
        </p:nvSpPr>
        <p:spPr>
          <a:xfrm>
            <a:off x="8275320" y="5120640"/>
            <a:ext cx="3154680" cy="32004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COST PER HOUR SAVED</a:t>
            </a:r>
            <a:endParaRPr lang="en-US" sz="1000" dirty="0"/>
          </a:p>
        </p:txBody>
      </p:sp>
      <p:sp>
        <p:nvSpPr>
          <p:cNvPr id="34" name="Text 32"/>
          <p:cNvSpPr/>
          <p:nvPr/>
        </p:nvSpPr>
        <p:spPr>
          <a:xfrm>
            <a:off x="8275320" y="5440680"/>
            <a:ext cx="3154680" cy="457200"/>
          </a:xfrm>
          <a:prstGeom prst="rect">
            <a:avLst/>
          </a:prstGeom>
          <a:noFill/>
          <a:ln/>
        </p:spPr>
        <p:txBody>
          <a:bodyPr wrap="square" rtlCol="0" anchor="ctr"/>
          <a:lstStyle/>
          <a:p>
            <a:pPr indent="0" marL="0">
              <a:buNone/>
            </a:pPr>
            <a:r>
              <a:rPr lang="en-US" sz="3600" b="1" dirty="0">
                <a:solidFill>
                  <a:srgbClr val="F5C451"/>
                </a:solidFill>
                <a:latin typeface="Cambria" pitchFamily="34" charset="0"/>
                <a:ea typeface="Cambria" pitchFamily="34" charset="-122"/>
                <a:cs typeface="Cambria" pitchFamily="34" charset="-120"/>
              </a:rPr>
              <a:t>$5.48</a:t>
            </a:r>
            <a:endParaRPr lang="en-US" sz="3600" dirty="0"/>
          </a:p>
        </p:txBody>
      </p:sp>
      <p:sp>
        <p:nvSpPr>
          <p:cNvPr id="35" name="Text 33"/>
          <p:cNvSpPr/>
          <p:nvPr/>
        </p:nvSpPr>
        <p:spPr>
          <a:xfrm>
            <a:off x="8275320" y="5806440"/>
            <a:ext cx="315468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$6,000 / mo  ÷  1,095 hrs / mo</a:t>
            </a:r>
            <a:endParaRPr lang="en-US" sz="1000" dirty="0"/>
          </a:p>
        </p:txBody>
      </p:sp>
      <p:sp>
        <p:nvSpPr>
          <p:cNvPr id="36" name="Text 34"/>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M365 Copilot ROI Analysis  |  16 weeks  |  4 Organization</a:t>
            </a:r>
            <a:endParaRPr lang="en-US" sz="900" dirty="0"/>
          </a:p>
        </p:txBody>
      </p:sp>
      <p:sp>
        <p:nvSpPr>
          <p:cNvPr id="37" name="Text 35"/>
          <p:cNvSpPr/>
          <p:nvPr/>
        </p:nvSpPr>
        <p:spPr>
          <a:xfrm>
            <a:off x="11155680" y="6537960"/>
            <a:ext cx="548640" cy="274320"/>
          </a:xfrm>
          <a:prstGeom prst="rect">
            <a:avLst/>
          </a:prstGeom>
          <a:noFill/>
          <a:ln/>
        </p:spPr>
        <p:txBody>
          <a:bodyPr wrap="square" rtlCol="0" anchor="ctr"/>
          <a:lstStyle/>
          <a:p>
            <a:pPr algn="r" indent="0" marL="0">
              <a:buNone/>
            </a:pPr>
            <a:r>
              <a:rPr lang="en-US" sz="900" dirty="0">
                <a:solidFill>
                  <a:srgbClr val="9AB0CC"/>
                </a:solidFill>
                <a:latin typeface="Calibri" pitchFamily="34" charset="0"/>
                <a:ea typeface="Calibri" pitchFamily="34" charset="-122"/>
                <a:cs typeface="Calibri"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VALUE BY ORGANIZATION</a:t>
            </a:r>
            <a:endParaRPr lang="en-US" sz="1100" dirty="0"/>
          </a:p>
        </p:txBody>
      </p:sp>
      <p:sp>
        <p:nvSpPr>
          <p:cNvPr id="3" name="Text 1"/>
          <p:cNvSpPr/>
          <p:nvPr/>
        </p:nvSpPr>
        <p:spPr>
          <a:xfrm>
            <a:off x="548640" y="777240"/>
            <a:ext cx="11155680" cy="5943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Top 10 Organization by monthly value generated</a:t>
            </a:r>
            <a:endParaRPr lang="en-US" sz="2800" dirty="0"/>
          </a:p>
        </p:txBody>
      </p:sp>
      <p:graphicFrame>
        <p:nvGraphicFramePr>
          <p:cNvPr id="4" name="Chart 0" descr=""/>
          <p:cNvGraphicFramePr/>
          <p:nvPr/>
        </p:nvGraphicFramePr>
        <p:xfrm>
          <a:off x="548640" y="1463040"/>
          <a:ext cx="7863840" cy="4709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41080" y="1463040"/>
            <a:ext cx="3017520" cy="4709160"/>
          </a:xfrm>
          <a:prstGeom prst="rect">
            <a:avLst/>
          </a:prstGeom>
          <a:solidFill>
            <a:srgbClr val="0F2647"/>
          </a:solidFill>
          <a:ln/>
        </p:spPr>
      </p:sp>
      <p:sp>
        <p:nvSpPr>
          <p:cNvPr id="6" name="Text 3"/>
          <p:cNvSpPr/>
          <p:nvPr/>
        </p:nvSpPr>
        <p:spPr>
          <a:xfrm>
            <a:off x="8823960" y="1737360"/>
            <a:ext cx="2743200" cy="320040"/>
          </a:xfrm>
          <a:prstGeom prst="rect">
            <a:avLst/>
          </a:prstGeom>
          <a:noFill/>
          <a:ln/>
        </p:spPr>
        <p:txBody>
          <a:bodyPr wrap="square" rtlCol="0" anchor="ctr"/>
          <a:lstStyle/>
          <a:p>
            <a:pPr indent="0" marL="0">
              <a:buNone/>
            </a:pPr>
            <a:r>
              <a:rPr lang="en-US" sz="1200" b="1" dirty="0">
                <a:solidFill>
                  <a:srgbClr val="9AB0CC"/>
                </a:solidFill>
                <a:latin typeface="Calibri" pitchFamily="34" charset="0"/>
                <a:ea typeface="Calibri" pitchFamily="34" charset="-122"/>
                <a:cs typeface="Calibri" pitchFamily="34" charset="-120"/>
              </a:rPr>
              <a:t>THE PARETO SIGNAL</a:t>
            </a:r>
            <a:endParaRPr lang="en-US" sz="1200" dirty="0"/>
          </a:p>
        </p:txBody>
      </p:sp>
      <p:sp>
        <p:nvSpPr>
          <p:cNvPr id="7" name="Text 4"/>
          <p:cNvSpPr/>
          <p:nvPr/>
        </p:nvSpPr>
        <p:spPr>
          <a:xfrm>
            <a:off x="8823960" y="2103120"/>
            <a:ext cx="2743200" cy="640080"/>
          </a:xfrm>
          <a:prstGeom prst="rect">
            <a:avLst/>
          </a:prstGeom>
          <a:noFill/>
          <a:ln/>
        </p:spPr>
        <p:txBody>
          <a:bodyPr wrap="square" rtlCol="0" anchor="ctr"/>
          <a:lstStyle/>
          <a:p>
            <a:pPr indent="0" marL="0">
              <a:buNone/>
            </a:pPr>
            <a:r>
              <a:rPr lang="en-US" sz="3600" b="1" dirty="0">
                <a:solidFill>
                  <a:srgbClr val="4ADE80"/>
                </a:solidFill>
                <a:latin typeface="Cambria" pitchFamily="34" charset="0"/>
                <a:ea typeface="Cambria" pitchFamily="34" charset="-122"/>
                <a:cs typeface="Cambria" pitchFamily="34" charset="-120"/>
              </a:rPr>
              <a:t>$85,402</a:t>
            </a:r>
            <a:endParaRPr lang="en-US" sz="3600" dirty="0"/>
          </a:p>
        </p:txBody>
      </p:sp>
      <p:sp>
        <p:nvSpPr>
          <p:cNvPr id="8" name="Text 5"/>
          <p:cNvSpPr/>
          <p:nvPr/>
        </p:nvSpPr>
        <p:spPr>
          <a:xfrm>
            <a:off x="8823960" y="2743200"/>
            <a:ext cx="2743200" cy="45720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monthly value from the top 4 Organization</a:t>
            </a:r>
            <a:endParaRPr lang="en-US" sz="1200" dirty="0"/>
          </a:p>
        </p:txBody>
      </p:sp>
      <p:sp>
        <p:nvSpPr>
          <p:cNvPr id="9" name="Shape 6"/>
          <p:cNvSpPr/>
          <p:nvPr/>
        </p:nvSpPr>
        <p:spPr>
          <a:xfrm>
            <a:off x="8823960" y="3337560"/>
            <a:ext cx="2651760" cy="36576"/>
          </a:xfrm>
          <a:prstGeom prst="rect">
            <a:avLst/>
          </a:prstGeom>
          <a:solidFill>
            <a:srgbClr val="16335E"/>
          </a:solidFill>
          <a:ln/>
        </p:spPr>
      </p:sp>
      <p:sp>
        <p:nvSpPr>
          <p:cNvPr id="10" name="Text 7"/>
          <p:cNvSpPr/>
          <p:nvPr/>
        </p:nvSpPr>
        <p:spPr>
          <a:xfrm>
            <a:off x="8823960" y="3520440"/>
            <a:ext cx="2743200" cy="548640"/>
          </a:xfrm>
          <a:prstGeom prst="rect">
            <a:avLst/>
          </a:prstGeom>
          <a:noFill/>
          <a:ln/>
        </p:spPr>
        <p:txBody>
          <a:bodyPr wrap="square" rtlCol="0" anchor="ctr"/>
          <a:lstStyle/>
          <a:p>
            <a:pPr indent="0" marL="0">
              <a:buNone/>
            </a:pPr>
            <a:r>
              <a:rPr lang="en-US" sz="3600" b="1" dirty="0">
                <a:solidFill>
                  <a:srgbClr val="4FC3F7"/>
                </a:solidFill>
                <a:latin typeface="Cambria" pitchFamily="34" charset="0"/>
                <a:ea typeface="Cambria" pitchFamily="34" charset="-122"/>
                <a:cs typeface="Cambria" pitchFamily="34" charset="-120"/>
              </a:rPr>
              <a:t>100%</a:t>
            </a:r>
            <a:endParaRPr lang="en-US" sz="3600" dirty="0"/>
          </a:p>
        </p:txBody>
      </p:sp>
      <p:sp>
        <p:nvSpPr>
          <p:cNvPr id="11" name="Text 8"/>
          <p:cNvSpPr/>
          <p:nvPr/>
        </p:nvSpPr>
        <p:spPr>
          <a:xfrm>
            <a:off x="8823960" y="4069080"/>
            <a:ext cx="2743200" cy="8229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of total monthly productivity value concentrated in top 4 of 4 Organization</a:t>
            </a:r>
            <a:endParaRPr lang="en-US" sz="1200" dirty="0"/>
          </a:p>
        </p:txBody>
      </p:sp>
      <p:sp>
        <p:nvSpPr>
          <p:cNvPr id="12" name="Shape 9"/>
          <p:cNvSpPr/>
          <p:nvPr/>
        </p:nvSpPr>
        <p:spPr>
          <a:xfrm>
            <a:off x="8823960" y="4937760"/>
            <a:ext cx="2651760" cy="36576"/>
          </a:xfrm>
          <a:prstGeom prst="rect">
            <a:avLst/>
          </a:prstGeom>
          <a:solidFill>
            <a:srgbClr val="16335E"/>
          </a:solidFill>
          <a:ln/>
        </p:spPr>
      </p:sp>
      <p:sp>
        <p:nvSpPr>
          <p:cNvPr id="13" name="Text 10"/>
          <p:cNvSpPr/>
          <p:nvPr/>
        </p:nvSpPr>
        <p:spPr>
          <a:xfrm>
            <a:off x="8823960" y="5074920"/>
            <a:ext cx="2743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Action</a:t>
            </a:r>
            <a:endParaRPr lang="en-US" sz="1100" dirty="0"/>
          </a:p>
        </p:txBody>
      </p:sp>
      <p:sp>
        <p:nvSpPr>
          <p:cNvPr id="14" name="Text 11"/>
          <p:cNvSpPr/>
          <p:nvPr/>
        </p:nvSpPr>
        <p:spPr>
          <a:xfrm>
            <a:off x="8823960" y="5349240"/>
            <a:ext cx="2743200" cy="77724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Replicate top Organization enablement playbooks in mid-tier Organization to lift overall value</a:t>
            </a:r>
            <a:endParaRPr lang="en-US" sz="1100" dirty="0"/>
          </a:p>
        </p:txBody>
      </p:sp>
      <p:sp>
        <p:nvSpPr>
          <p:cNvPr id="15" name="Text 12"/>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M365 Copilot ROI Analysis  |  16 weeks  |  4 Organization</a:t>
            </a:r>
            <a:endParaRPr lang="en-US" sz="900" dirty="0"/>
          </a:p>
        </p:txBody>
      </p:sp>
      <p:sp>
        <p:nvSpPr>
          <p:cNvPr id="16" name="Text 13"/>
          <p:cNvSpPr/>
          <p:nvPr/>
        </p:nvSpPr>
        <p:spPr>
          <a:xfrm>
            <a:off x="11155680" y="6537960"/>
            <a:ext cx="548640" cy="274320"/>
          </a:xfrm>
          <a:prstGeom prst="rect">
            <a:avLst/>
          </a:prstGeom>
          <a:noFill/>
          <a:ln/>
        </p:spPr>
        <p:txBody>
          <a:bodyPr wrap="square" rtlCol="0" anchor="ctr"/>
          <a:lstStyle/>
          <a:p>
            <a:pPr algn="r" indent="0" marL="0">
              <a:buNone/>
            </a:pPr>
            <a:r>
              <a:rPr lang="en-US" sz="900" dirty="0">
                <a:solidFill>
                  <a:srgbClr val="9AB0CC"/>
                </a:solidFill>
                <a:latin typeface="Calibri" pitchFamily="34" charset="0"/>
                <a:ea typeface="Calibri" pitchFamily="34" charset="-122"/>
                <a:cs typeface="Calibri"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USAGE TIER VALUE DISTRIBUTION  •  LAST 16 WEEKS</a:t>
            </a:r>
            <a:endParaRPr lang="en-US" sz="1100" dirty="0"/>
          </a:p>
        </p:txBody>
      </p:sp>
      <p:sp>
        <p:nvSpPr>
          <p:cNvPr id="3" name="Text 1"/>
          <p:cNvSpPr/>
          <p:nvPr/>
        </p:nvSpPr>
        <p:spPr>
          <a:xfrm>
            <a:off x="548640" y="777240"/>
            <a:ext cx="11155680" cy="5943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Every tier returns more than 0x</a:t>
            </a:r>
            <a:endParaRPr lang="en-US" sz="2800" dirty="0"/>
          </a:p>
        </p:txBody>
      </p:sp>
      <p:sp>
        <p:nvSpPr>
          <p:cNvPr id="4" name="Shape 2"/>
          <p:cNvSpPr/>
          <p:nvPr/>
        </p:nvSpPr>
        <p:spPr>
          <a:xfrm>
            <a:off x="548640" y="1645920"/>
            <a:ext cx="11109960" cy="457200"/>
          </a:xfrm>
          <a:prstGeom prst="rect">
            <a:avLst/>
          </a:prstGeom>
          <a:solidFill>
            <a:srgbClr val="16335E"/>
          </a:solidFill>
          <a:ln/>
        </p:spPr>
      </p:sp>
      <p:sp>
        <p:nvSpPr>
          <p:cNvPr id="5" name="Text 3"/>
          <p:cNvSpPr/>
          <p:nvPr/>
        </p:nvSpPr>
        <p:spPr>
          <a:xfrm>
            <a:off x="548640" y="1645920"/>
            <a:ext cx="1828800" cy="457200"/>
          </a:xfrm>
          <a:prstGeom prst="rect">
            <a:avLst/>
          </a:prstGeom>
          <a:noFill/>
          <a:ln/>
        </p:spPr>
        <p:txBody>
          <a:bodyPr wrap="square"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USER TIER</a:t>
            </a:r>
            <a:endParaRPr lang="en-US" sz="1000" dirty="0"/>
          </a:p>
        </p:txBody>
      </p:sp>
      <p:sp>
        <p:nvSpPr>
          <p:cNvPr id="6" name="Text 4"/>
          <p:cNvSpPr/>
          <p:nvPr/>
        </p:nvSpPr>
        <p:spPr>
          <a:xfrm>
            <a:off x="2377440" y="1645920"/>
            <a:ext cx="1645920" cy="457200"/>
          </a:xfrm>
          <a:prstGeom prst="rect">
            <a:avLst/>
          </a:prstGeom>
          <a:noFill/>
          <a:ln/>
        </p:spPr>
        <p:txBody>
          <a:bodyPr wrap="square"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ACTIVE USERS</a:t>
            </a:r>
            <a:endParaRPr lang="en-US" sz="1000" dirty="0"/>
          </a:p>
        </p:txBody>
      </p:sp>
      <p:sp>
        <p:nvSpPr>
          <p:cNvPr id="7" name="Text 5"/>
          <p:cNvSpPr/>
          <p:nvPr/>
        </p:nvSpPr>
        <p:spPr>
          <a:xfrm>
            <a:off x="4023360" y="1645920"/>
            <a:ext cx="1737360" cy="457200"/>
          </a:xfrm>
          <a:prstGeom prst="rect">
            <a:avLst/>
          </a:prstGeom>
          <a:noFill/>
          <a:ln/>
        </p:spPr>
        <p:txBody>
          <a:bodyPr wrap="square"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ACTIONS / USER / MO</a:t>
            </a:r>
            <a:endParaRPr lang="en-US" sz="1000" dirty="0"/>
          </a:p>
        </p:txBody>
      </p:sp>
      <p:sp>
        <p:nvSpPr>
          <p:cNvPr id="8" name="Text 6"/>
          <p:cNvSpPr/>
          <p:nvPr/>
        </p:nvSpPr>
        <p:spPr>
          <a:xfrm>
            <a:off x="5760720" y="1645920"/>
            <a:ext cx="2103120" cy="457200"/>
          </a:xfrm>
          <a:prstGeom prst="rect">
            <a:avLst/>
          </a:prstGeom>
          <a:noFill/>
          <a:ln/>
        </p:spPr>
        <p:txBody>
          <a:bodyPr wrap="square"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MONTHLY INVESTMENT</a:t>
            </a:r>
            <a:endParaRPr lang="en-US" sz="1000" dirty="0"/>
          </a:p>
        </p:txBody>
      </p:sp>
      <p:sp>
        <p:nvSpPr>
          <p:cNvPr id="9" name="Text 7"/>
          <p:cNvSpPr/>
          <p:nvPr/>
        </p:nvSpPr>
        <p:spPr>
          <a:xfrm>
            <a:off x="7863840" y="1645920"/>
            <a:ext cx="1920240" cy="457200"/>
          </a:xfrm>
          <a:prstGeom prst="rect">
            <a:avLst/>
          </a:prstGeom>
          <a:noFill/>
          <a:ln/>
        </p:spPr>
        <p:txBody>
          <a:bodyPr wrap="square"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MONTHLY VALUE</a:t>
            </a:r>
            <a:endParaRPr lang="en-US" sz="1000" dirty="0"/>
          </a:p>
        </p:txBody>
      </p:sp>
      <p:sp>
        <p:nvSpPr>
          <p:cNvPr id="10" name="Text 8"/>
          <p:cNvSpPr/>
          <p:nvPr/>
        </p:nvSpPr>
        <p:spPr>
          <a:xfrm>
            <a:off x="9784080" y="1645920"/>
            <a:ext cx="1828800" cy="457200"/>
          </a:xfrm>
          <a:prstGeom prst="rect">
            <a:avLst/>
          </a:prstGeom>
          <a:noFill/>
          <a:ln/>
        </p:spPr>
        <p:txBody>
          <a:bodyPr wrap="square" rtlCol="0" anchor="ctr"/>
          <a:lstStyle/>
          <a:p>
            <a:pPr algn="ctr" indent="0" marL="0">
              <a:buNone/>
            </a:pPr>
            <a:r>
              <a:rPr lang="en-US" sz="1000" b="1" dirty="0">
                <a:solidFill>
                  <a:srgbClr val="CADCFC"/>
                </a:solidFill>
                <a:latin typeface="Calibri" pitchFamily="34" charset="0"/>
                <a:ea typeface="Calibri" pitchFamily="34" charset="-122"/>
                <a:cs typeface="Calibri" pitchFamily="34" charset="-120"/>
              </a:rPr>
              <a:t>ROI</a:t>
            </a:r>
            <a:endParaRPr lang="en-US" sz="1000" dirty="0"/>
          </a:p>
        </p:txBody>
      </p:sp>
      <p:sp>
        <p:nvSpPr>
          <p:cNvPr id="11" name="Shape 9"/>
          <p:cNvSpPr/>
          <p:nvPr/>
        </p:nvSpPr>
        <p:spPr>
          <a:xfrm>
            <a:off x="548640" y="2148840"/>
            <a:ext cx="11109960" cy="502920"/>
          </a:xfrm>
          <a:prstGeom prst="rect">
            <a:avLst/>
          </a:prstGeom>
          <a:solidFill>
            <a:srgbClr val="0F2647"/>
          </a:solidFill>
          <a:ln/>
        </p:spPr>
      </p:sp>
      <p:sp>
        <p:nvSpPr>
          <p:cNvPr id="12" name="Shape 10"/>
          <p:cNvSpPr/>
          <p:nvPr/>
        </p:nvSpPr>
        <p:spPr>
          <a:xfrm>
            <a:off x="548640" y="2148840"/>
            <a:ext cx="73152" cy="502920"/>
          </a:xfrm>
          <a:prstGeom prst="rect">
            <a:avLst/>
          </a:prstGeom>
          <a:solidFill>
            <a:srgbClr val="4ADE80"/>
          </a:solidFill>
          <a:ln/>
        </p:spPr>
      </p:sp>
      <p:sp>
        <p:nvSpPr>
          <p:cNvPr id="13" name="Text 11"/>
          <p:cNvSpPr/>
          <p:nvPr/>
        </p:nvSpPr>
        <p:spPr>
          <a:xfrm>
            <a:off x="548640" y="2148840"/>
            <a:ext cx="1828800" cy="502920"/>
          </a:xfrm>
          <a:prstGeom prst="rect">
            <a:avLst/>
          </a:prstGeom>
          <a:noFill/>
          <a:ln/>
        </p:spPr>
        <p:txBody>
          <a:bodyPr wrap="square" rtlCol="0" anchor="ctr"/>
          <a:lstStyle/>
          <a:p>
            <a:pPr algn="ctr" indent="0" marL="0">
              <a:buNone/>
            </a:pPr>
            <a:r>
              <a:rPr lang="en-US" sz="1300" b="1" dirty="0">
                <a:solidFill>
                  <a:srgbClr val="4ADE80"/>
                </a:solidFill>
                <a:latin typeface="Calibri" pitchFamily="34" charset="0"/>
                <a:ea typeface="Calibri" pitchFamily="34" charset="-122"/>
                <a:cs typeface="Calibri" pitchFamily="34" charset="-120"/>
              </a:rPr>
              <a:t>Power Users</a:t>
            </a:r>
            <a:endParaRPr lang="en-US" sz="1300" dirty="0"/>
          </a:p>
        </p:txBody>
      </p:sp>
      <p:sp>
        <p:nvSpPr>
          <p:cNvPr id="14" name="Text 12"/>
          <p:cNvSpPr/>
          <p:nvPr/>
        </p:nvSpPr>
        <p:spPr>
          <a:xfrm>
            <a:off x="2377440" y="2148840"/>
            <a:ext cx="164592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45</a:t>
            </a:r>
            <a:endParaRPr lang="en-US" sz="1300" dirty="0"/>
          </a:p>
        </p:txBody>
      </p:sp>
      <p:sp>
        <p:nvSpPr>
          <p:cNvPr id="15" name="Text 13"/>
          <p:cNvSpPr/>
          <p:nvPr/>
        </p:nvSpPr>
        <p:spPr>
          <a:xfrm>
            <a:off x="4023360" y="2148840"/>
            <a:ext cx="173736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171</a:t>
            </a:r>
            <a:endParaRPr lang="en-US" sz="1300" dirty="0"/>
          </a:p>
        </p:txBody>
      </p:sp>
      <p:sp>
        <p:nvSpPr>
          <p:cNvPr id="16" name="Text 14"/>
          <p:cNvSpPr/>
          <p:nvPr/>
        </p:nvSpPr>
        <p:spPr>
          <a:xfrm>
            <a:off x="5760720" y="2148840"/>
            <a:ext cx="2103120" cy="50292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$1,350</a:t>
            </a:r>
            <a:endParaRPr lang="en-US" sz="1300" dirty="0"/>
          </a:p>
        </p:txBody>
      </p:sp>
      <p:sp>
        <p:nvSpPr>
          <p:cNvPr id="17" name="Text 15"/>
          <p:cNvSpPr/>
          <p:nvPr/>
        </p:nvSpPr>
        <p:spPr>
          <a:xfrm>
            <a:off x="7863840" y="214884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$60,004</a:t>
            </a:r>
            <a:endParaRPr lang="en-US" sz="1300" dirty="0"/>
          </a:p>
        </p:txBody>
      </p:sp>
      <p:sp>
        <p:nvSpPr>
          <p:cNvPr id="18" name="Text 16"/>
          <p:cNvSpPr/>
          <p:nvPr/>
        </p:nvSpPr>
        <p:spPr>
          <a:xfrm>
            <a:off x="9784080" y="2148840"/>
            <a:ext cx="1828800" cy="502920"/>
          </a:xfrm>
          <a:prstGeom prst="rect">
            <a:avLst/>
          </a:prstGeom>
          <a:noFill/>
          <a:ln/>
        </p:spPr>
        <p:txBody>
          <a:bodyPr wrap="square"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44.4x</a:t>
            </a:r>
            <a:endParaRPr lang="en-US" sz="1400" dirty="0"/>
          </a:p>
        </p:txBody>
      </p:sp>
      <p:sp>
        <p:nvSpPr>
          <p:cNvPr id="19" name="Shape 17"/>
          <p:cNvSpPr/>
          <p:nvPr/>
        </p:nvSpPr>
        <p:spPr>
          <a:xfrm>
            <a:off x="548640" y="2651760"/>
            <a:ext cx="11109960" cy="502920"/>
          </a:xfrm>
          <a:prstGeom prst="rect">
            <a:avLst/>
          </a:prstGeom>
          <a:solidFill>
            <a:srgbClr val="0F2647"/>
          </a:solidFill>
          <a:ln/>
        </p:spPr>
      </p:sp>
      <p:sp>
        <p:nvSpPr>
          <p:cNvPr id="20" name="Shape 18"/>
          <p:cNvSpPr/>
          <p:nvPr/>
        </p:nvSpPr>
        <p:spPr>
          <a:xfrm>
            <a:off x="548640" y="2651760"/>
            <a:ext cx="73152" cy="502920"/>
          </a:xfrm>
          <a:prstGeom prst="rect">
            <a:avLst/>
          </a:prstGeom>
          <a:solidFill>
            <a:srgbClr val="4FC3F7"/>
          </a:solidFill>
          <a:ln/>
        </p:spPr>
      </p:sp>
      <p:sp>
        <p:nvSpPr>
          <p:cNvPr id="21" name="Text 19"/>
          <p:cNvSpPr/>
          <p:nvPr/>
        </p:nvSpPr>
        <p:spPr>
          <a:xfrm>
            <a:off x="548640" y="2651760"/>
            <a:ext cx="1828800" cy="502920"/>
          </a:xfrm>
          <a:prstGeom prst="rect">
            <a:avLst/>
          </a:prstGeom>
          <a:noFill/>
          <a:ln/>
        </p:spPr>
        <p:txBody>
          <a:bodyPr wrap="square" rtlCol="0" anchor="ctr"/>
          <a:lstStyle/>
          <a:p>
            <a:pPr algn="ctr" indent="0" marL="0">
              <a:buNone/>
            </a:pPr>
            <a:r>
              <a:rPr lang="en-US" sz="1300" b="1" dirty="0">
                <a:solidFill>
                  <a:srgbClr val="4FC3F7"/>
                </a:solidFill>
                <a:latin typeface="Calibri" pitchFamily="34" charset="0"/>
                <a:ea typeface="Calibri" pitchFamily="34" charset="-122"/>
                <a:cs typeface="Calibri" pitchFamily="34" charset="-120"/>
              </a:rPr>
              <a:t>Habitual Users</a:t>
            </a:r>
            <a:endParaRPr lang="en-US" sz="1300" dirty="0"/>
          </a:p>
        </p:txBody>
      </p:sp>
      <p:sp>
        <p:nvSpPr>
          <p:cNvPr id="22" name="Text 20"/>
          <p:cNvSpPr/>
          <p:nvPr/>
        </p:nvSpPr>
        <p:spPr>
          <a:xfrm>
            <a:off x="2377440" y="2651760"/>
            <a:ext cx="164592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44</a:t>
            </a:r>
            <a:endParaRPr lang="en-US" sz="1300" dirty="0"/>
          </a:p>
        </p:txBody>
      </p:sp>
      <p:sp>
        <p:nvSpPr>
          <p:cNvPr id="23" name="Text 21"/>
          <p:cNvSpPr/>
          <p:nvPr/>
        </p:nvSpPr>
        <p:spPr>
          <a:xfrm>
            <a:off x="4023360" y="2651760"/>
            <a:ext cx="173736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59</a:t>
            </a:r>
            <a:endParaRPr lang="en-US" sz="1300" dirty="0"/>
          </a:p>
        </p:txBody>
      </p:sp>
      <p:sp>
        <p:nvSpPr>
          <p:cNvPr id="24" name="Text 22"/>
          <p:cNvSpPr/>
          <p:nvPr/>
        </p:nvSpPr>
        <p:spPr>
          <a:xfrm>
            <a:off x="5760720" y="2651760"/>
            <a:ext cx="2103120" cy="50292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$1,320</a:t>
            </a:r>
            <a:endParaRPr lang="en-US" sz="1300" dirty="0"/>
          </a:p>
        </p:txBody>
      </p:sp>
      <p:sp>
        <p:nvSpPr>
          <p:cNvPr id="25" name="Text 23"/>
          <p:cNvSpPr/>
          <p:nvPr/>
        </p:nvSpPr>
        <p:spPr>
          <a:xfrm>
            <a:off x="7863840" y="265176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$20,237</a:t>
            </a:r>
            <a:endParaRPr lang="en-US" sz="1300" dirty="0"/>
          </a:p>
        </p:txBody>
      </p:sp>
      <p:sp>
        <p:nvSpPr>
          <p:cNvPr id="26" name="Text 24"/>
          <p:cNvSpPr/>
          <p:nvPr/>
        </p:nvSpPr>
        <p:spPr>
          <a:xfrm>
            <a:off x="9784080" y="2651760"/>
            <a:ext cx="1828800" cy="502920"/>
          </a:xfrm>
          <a:prstGeom prst="rect">
            <a:avLst/>
          </a:prstGeom>
          <a:noFill/>
          <a:ln/>
        </p:spPr>
        <p:txBody>
          <a:bodyPr wrap="square"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15.3x</a:t>
            </a:r>
            <a:endParaRPr lang="en-US" sz="1400" dirty="0"/>
          </a:p>
        </p:txBody>
      </p:sp>
      <p:sp>
        <p:nvSpPr>
          <p:cNvPr id="27" name="Shape 25"/>
          <p:cNvSpPr/>
          <p:nvPr/>
        </p:nvSpPr>
        <p:spPr>
          <a:xfrm>
            <a:off x="548640" y="3154680"/>
            <a:ext cx="11109960" cy="502920"/>
          </a:xfrm>
          <a:prstGeom prst="rect">
            <a:avLst/>
          </a:prstGeom>
          <a:solidFill>
            <a:srgbClr val="0F2647"/>
          </a:solidFill>
          <a:ln/>
        </p:spPr>
      </p:sp>
      <p:sp>
        <p:nvSpPr>
          <p:cNvPr id="28" name="Shape 26"/>
          <p:cNvSpPr/>
          <p:nvPr/>
        </p:nvSpPr>
        <p:spPr>
          <a:xfrm>
            <a:off x="548640" y="3154680"/>
            <a:ext cx="73152" cy="502920"/>
          </a:xfrm>
          <a:prstGeom prst="rect">
            <a:avLst/>
          </a:prstGeom>
          <a:solidFill>
            <a:srgbClr val="4FC3F7"/>
          </a:solidFill>
          <a:ln/>
        </p:spPr>
      </p:sp>
      <p:sp>
        <p:nvSpPr>
          <p:cNvPr id="29" name="Text 27"/>
          <p:cNvSpPr/>
          <p:nvPr/>
        </p:nvSpPr>
        <p:spPr>
          <a:xfrm>
            <a:off x="548640" y="3154680"/>
            <a:ext cx="1828800" cy="502920"/>
          </a:xfrm>
          <a:prstGeom prst="rect">
            <a:avLst/>
          </a:prstGeom>
          <a:noFill/>
          <a:ln/>
        </p:spPr>
        <p:txBody>
          <a:bodyPr wrap="square" rtlCol="0" anchor="ctr"/>
          <a:lstStyle/>
          <a:p>
            <a:pPr algn="ctr" indent="0" marL="0">
              <a:buNone/>
            </a:pPr>
            <a:r>
              <a:rPr lang="en-US" sz="1300" b="1" dirty="0">
                <a:solidFill>
                  <a:srgbClr val="4FC3F7"/>
                </a:solidFill>
                <a:latin typeface="Calibri" pitchFamily="34" charset="0"/>
                <a:ea typeface="Calibri" pitchFamily="34" charset="-122"/>
                <a:cs typeface="Calibri" pitchFamily="34" charset="-120"/>
              </a:rPr>
              <a:t>Novice Users</a:t>
            </a:r>
            <a:endParaRPr lang="en-US" sz="1300" dirty="0"/>
          </a:p>
        </p:txBody>
      </p:sp>
      <p:sp>
        <p:nvSpPr>
          <p:cNvPr id="30" name="Text 28"/>
          <p:cNvSpPr/>
          <p:nvPr/>
        </p:nvSpPr>
        <p:spPr>
          <a:xfrm>
            <a:off x="2377440" y="3154680"/>
            <a:ext cx="164592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34</a:t>
            </a:r>
            <a:endParaRPr lang="en-US" sz="1300" dirty="0"/>
          </a:p>
        </p:txBody>
      </p:sp>
      <p:sp>
        <p:nvSpPr>
          <p:cNvPr id="31" name="Text 29"/>
          <p:cNvSpPr/>
          <p:nvPr/>
        </p:nvSpPr>
        <p:spPr>
          <a:xfrm>
            <a:off x="4023360" y="3154680"/>
            <a:ext cx="173736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17</a:t>
            </a:r>
            <a:endParaRPr lang="en-US" sz="1300" dirty="0"/>
          </a:p>
        </p:txBody>
      </p:sp>
      <p:sp>
        <p:nvSpPr>
          <p:cNvPr id="32" name="Text 30"/>
          <p:cNvSpPr/>
          <p:nvPr/>
        </p:nvSpPr>
        <p:spPr>
          <a:xfrm>
            <a:off x="5760720" y="3154680"/>
            <a:ext cx="2103120" cy="50292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$1,020</a:t>
            </a:r>
            <a:endParaRPr lang="en-US" sz="1300" dirty="0"/>
          </a:p>
        </p:txBody>
      </p:sp>
      <p:sp>
        <p:nvSpPr>
          <p:cNvPr id="33" name="Text 31"/>
          <p:cNvSpPr/>
          <p:nvPr/>
        </p:nvSpPr>
        <p:spPr>
          <a:xfrm>
            <a:off x="7863840" y="315468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$4,614</a:t>
            </a:r>
            <a:endParaRPr lang="en-US" sz="1300" dirty="0"/>
          </a:p>
        </p:txBody>
      </p:sp>
      <p:sp>
        <p:nvSpPr>
          <p:cNvPr id="34" name="Text 32"/>
          <p:cNvSpPr/>
          <p:nvPr/>
        </p:nvSpPr>
        <p:spPr>
          <a:xfrm>
            <a:off x="9784080" y="3154680"/>
            <a:ext cx="1828800" cy="502920"/>
          </a:xfrm>
          <a:prstGeom prst="rect">
            <a:avLst/>
          </a:prstGeom>
          <a:noFill/>
          <a:ln/>
        </p:spPr>
        <p:txBody>
          <a:bodyPr wrap="square"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4.5x</a:t>
            </a:r>
            <a:endParaRPr lang="en-US" sz="1400" dirty="0"/>
          </a:p>
        </p:txBody>
      </p:sp>
      <p:sp>
        <p:nvSpPr>
          <p:cNvPr id="35" name="Shape 33"/>
          <p:cNvSpPr/>
          <p:nvPr/>
        </p:nvSpPr>
        <p:spPr>
          <a:xfrm>
            <a:off x="548640" y="3657600"/>
            <a:ext cx="11109960" cy="502920"/>
          </a:xfrm>
          <a:prstGeom prst="rect">
            <a:avLst/>
          </a:prstGeom>
          <a:solidFill>
            <a:srgbClr val="0F2647"/>
          </a:solidFill>
          <a:ln/>
        </p:spPr>
      </p:sp>
      <p:sp>
        <p:nvSpPr>
          <p:cNvPr id="36" name="Shape 34"/>
          <p:cNvSpPr/>
          <p:nvPr/>
        </p:nvSpPr>
        <p:spPr>
          <a:xfrm>
            <a:off x="548640" y="3657600"/>
            <a:ext cx="73152" cy="502920"/>
          </a:xfrm>
          <a:prstGeom prst="rect">
            <a:avLst/>
          </a:prstGeom>
          <a:solidFill>
            <a:srgbClr val="F5C451"/>
          </a:solidFill>
          <a:ln/>
        </p:spPr>
      </p:sp>
      <p:sp>
        <p:nvSpPr>
          <p:cNvPr id="37" name="Text 35"/>
          <p:cNvSpPr/>
          <p:nvPr/>
        </p:nvSpPr>
        <p:spPr>
          <a:xfrm>
            <a:off x="548640" y="3657600"/>
            <a:ext cx="1828800" cy="502920"/>
          </a:xfrm>
          <a:prstGeom prst="rect">
            <a:avLst/>
          </a:prstGeom>
          <a:noFill/>
          <a:ln/>
        </p:spPr>
        <p:txBody>
          <a:bodyPr wrap="square" rtlCol="0" anchor="ctr"/>
          <a:lstStyle/>
          <a:p>
            <a:pPr algn="ctr" indent="0" marL="0">
              <a:buNone/>
            </a:pPr>
            <a:r>
              <a:rPr lang="en-US" sz="1300" b="1" dirty="0">
                <a:solidFill>
                  <a:srgbClr val="F5C451"/>
                </a:solidFill>
                <a:latin typeface="Calibri" pitchFamily="34" charset="0"/>
                <a:ea typeface="Calibri" pitchFamily="34" charset="-122"/>
                <a:cs typeface="Calibri" pitchFamily="34" charset="-120"/>
              </a:rPr>
              <a:t>Low Users</a:t>
            </a:r>
            <a:endParaRPr lang="en-US" sz="1300" dirty="0"/>
          </a:p>
        </p:txBody>
      </p:sp>
      <p:sp>
        <p:nvSpPr>
          <p:cNvPr id="38" name="Text 36"/>
          <p:cNvSpPr/>
          <p:nvPr/>
        </p:nvSpPr>
        <p:spPr>
          <a:xfrm>
            <a:off x="2377440" y="3657600"/>
            <a:ext cx="164592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34</a:t>
            </a:r>
            <a:endParaRPr lang="en-US" sz="1300" dirty="0"/>
          </a:p>
        </p:txBody>
      </p:sp>
      <p:sp>
        <p:nvSpPr>
          <p:cNvPr id="39" name="Text 37"/>
          <p:cNvSpPr/>
          <p:nvPr/>
        </p:nvSpPr>
        <p:spPr>
          <a:xfrm>
            <a:off x="4023360" y="3657600"/>
            <a:ext cx="173736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1</a:t>
            </a:r>
            <a:endParaRPr lang="en-US" sz="1300" dirty="0"/>
          </a:p>
        </p:txBody>
      </p:sp>
      <p:sp>
        <p:nvSpPr>
          <p:cNvPr id="40" name="Text 38"/>
          <p:cNvSpPr/>
          <p:nvPr/>
        </p:nvSpPr>
        <p:spPr>
          <a:xfrm>
            <a:off x="5760720" y="3657600"/>
            <a:ext cx="2103120" cy="50292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$1,020</a:t>
            </a:r>
            <a:endParaRPr lang="en-US" sz="1300" dirty="0"/>
          </a:p>
        </p:txBody>
      </p:sp>
      <p:sp>
        <p:nvSpPr>
          <p:cNvPr id="41" name="Text 39"/>
          <p:cNvSpPr/>
          <p:nvPr/>
        </p:nvSpPr>
        <p:spPr>
          <a:xfrm>
            <a:off x="7863840" y="365760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$293</a:t>
            </a:r>
            <a:endParaRPr lang="en-US" sz="1300" dirty="0"/>
          </a:p>
        </p:txBody>
      </p:sp>
      <p:sp>
        <p:nvSpPr>
          <p:cNvPr id="42" name="Text 40"/>
          <p:cNvSpPr/>
          <p:nvPr/>
        </p:nvSpPr>
        <p:spPr>
          <a:xfrm>
            <a:off x="9784080" y="3657600"/>
            <a:ext cx="1828800" cy="502920"/>
          </a:xfrm>
          <a:prstGeom prst="rect">
            <a:avLst/>
          </a:prstGeom>
          <a:noFill/>
          <a:ln/>
        </p:spPr>
        <p:txBody>
          <a:bodyPr wrap="square"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0.3x</a:t>
            </a:r>
            <a:endParaRPr lang="en-US" sz="1400" dirty="0"/>
          </a:p>
        </p:txBody>
      </p:sp>
      <p:sp>
        <p:nvSpPr>
          <p:cNvPr id="43" name="Shape 41"/>
          <p:cNvSpPr/>
          <p:nvPr/>
        </p:nvSpPr>
        <p:spPr>
          <a:xfrm>
            <a:off x="548640" y="4160520"/>
            <a:ext cx="11109960" cy="502920"/>
          </a:xfrm>
          <a:prstGeom prst="rect">
            <a:avLst/>
          </a:prstGeom>
          <a:solidFill>
            <a:srgbClr val="0F2647"/>
          </a:solidFill>
          <a:ln/>
        </p:spPr>
      </p:sp>
      <p:sp>
        <p:nvSpPr>
          <p:cNvPr id="44" name="Shape 42"/>
          <p:cNvSpPr/>
          <p:nvPr/>
        </p:nvSpPr>
        <p:spPr>
          <a:xfrm>
            <a:off x="548640" y="4160520"/>
            <a:ext cx="73152" cy="502920"/>
          </a:xfrm>
          <a:prstGeom prst="rect">
            <a:avLst/>
          </a:prstGeom>
          <a:solidFill>
            <a:srgbClr val="F26D6D"/>
          </a:solidFill>
          <a:ln/>
        </p:spPr>
      </p:sp>
      <p:sp>
        <p:nvSpPr>
          <p:cNvPr id="45" name="Text 43"/>
          <p:cNvSpPr/>
          <p:nvPr/>
        </p:nvSpPr>
        <p:spPr>
          <a:xfrm>
            <a:off x="548640" y="4160520"/>
            <a:ext cx="1828800" cy="502920"/>
          </a:xfrm>
          <a:prstGeom prst="rect">
            <a:avLst/>
          </a:prstGeom>
          <a:noFill/>
          <a:ln/>
        </p:spPr>
        <p:txBody>
          <a:bodyPr wrap="square" rtlCol="0" anchor="ctr"/>
          <a:lstStyle/>
          <a:p>
            <a:pPr algn="ctr" indent="0" marL="0">
              <a:buNone/>
            </a:pPr>
            <a:r>
              <a:rPr lang="en-US" sz="1300" b="1" dirty="0">
                <a:solidFill>
                  <a:srgbClr val="F26D6D"/>
                </a:solidFill>
                <a:latin typeface="Calibri" pitchFamily="34" charset="0"/>
                <a:ea typeface="Calibri" pitchFamily="34" charset="-122"/>
                <a:cs typeface="Calibri" pitchFamily="34" charset="-120"/>
              </a:rPr>
              <a:t>Non Users</a:t>
            </a:r>
            <a:endParaRPr lang="en-US" sz="1300" dirty="0"/>
          </a:p>
        </p:txBody>
      </p:sp>
      <p:sp>
        <p:nvSpPr>
          <p:cNvPr id="46" name="Text 44"/>
          <p:cNvSpPr/>
          <p:nvPr/>
        </p:nvSpPr>
        <p:spPr>
          <a:xfrm>
            <a:off x="2377440" y="4160520"/>
            <a:ext cx="164592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43</a:t>
            </a:r>
            <a:endParaRPr lang="en-US" sz="1300" dirty="0"/>
          </a:p>
        </p:txBody>
      </p:sp>
      <p:sp>
        <p:nvSpPr>
          <p:cNvPr id="47" name="Text 45"/>
          <p:cNvSpPr/>
          <p:nvPr/>
        </p:nvSpPr>
        <p:spPr>
          <a:xfrm>
            <a:off x="4023360" y="4160520"/>
            <a:ext cx="1737360" cy="50292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0</a:t>
            </a:r>
            <a:endParaRPr lang="en-US" sz="1300" dirty="0"/>
          </a:p>
        </p:txBody>
      </p:sp>
      <p:sp>
        <p:nvSpPr>
          <p:cNvPr id="48" name="Text 46"/>
          <p:cNvSpPr/>
          <p:nvPr/>
        </p:nvSpPr>
        <p:spPr>
          <a:xfrm>
            <a:off x="5760720" y="4160520"/>
            <a:ext cx="2103120" cy="502920"/>
          </a:xfrm>
          <a:prstGeom prst="rect">
            <a:avLst/>
          </a:prstGeom>
          <a:noFill/>
          <a:ln/>
        </p:spPr>
        <p:txBody>
          <a:bodyPr wrap="square"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$1,290</a:t>
            </a:r>
            <a:endParaRPr lang="en-US" sz="1300" dirty="0"/>
          </a:p>
        </p:txBody>
      </p:sp>
      <p:sp>
        <p:nvSpPr>
          <p:cNvPr id="49" name="Text 47"/>
          <p:cNvSpPr/>
          <p:nvPr/>
        </p:nvSpPr>
        <p:spPr>
          <a:xfrm>
            <a:off x="7863840" y="4160520"/>
            <a:ext cx="192024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0" name="Text 48"/>
          <p:cNvSpPr/>
          <p:nvPr/>
        </p:nvSpPr>
        <p:spPr>
          <a:xfrm>
            <a:off x="9784080" y="4160520"/>
            <a:ext cx="1828800" cy="502920"/>
          </a:xfrm>
          <a:prstGeom prst="rect">
            <a:avLst/>
          </a:prstGeom>
          <a:noFill/>
          <a:ln/>
        </p:spPr>
        <p:txBody>
          <a:bodyPr wrap="square"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0.0x</a:t>
            </a:r>
            <a:endParaRPr lang="en-US" sz="1400" dirty="0"/>
          </a:p>
        </p:txBody>
      </p:sp>
      <p:sp>
        <p:nvSpPr>
          <p:cNvPr id="51" name="Shape 49"/>
          <p:cNvSpPr/>
          <p:nvPr/>
        </p:nvSpPr>
        <p:spPr>
          <a:xfrm>
            <a:off x="548640" y="4681728"/>
            <a:ext cx="11109960" cy="36576"/>
          </a:xfrm>
          <a:prstGeom prst="rect">
            <a:avLst/>
          </a:prstGeom>
          <a:solidFill>
            <a:srgbClr val="4FC3F7"/>
          </a:solidFill>
          <a:ln/>
        </p:spPr>
      </p:sp>
      <p:sp>
        <p:nvSpPr>
          <p:cNvPr id="52" name="Text 50"/>
          <p:cNvSpPr/>
          <p:nvPr/>
        </p:nvSpPr>
        <p:spPr>
          <a:xfrm>
            <a:off x="548640" y="4754880"/>
            <a:ext cx="18288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ALL USERS</a:t>
            </a:r>
            <a:endParaRPr lang="en-US" sz="1300" dirty="0"/>
          </a:p>
        </p:txBody>
      </p:sp>
      <p:sp>
        <p:nvSpPr>
          <p:cNvPr id="53" name="Text 51"/>
          <p:cNvSpPr/>
          <p:nvPr/>
        </p:nvSpPr>
        <p:spPr>
          <a:xfrm>
            <a:off x="2377440" y="4754880"/>
            <a:ext cx="16459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132</a:t>
            </a:r>
            <a:endParaRPr lang="en-US" sz="1300" dirty="0"/>
          </a:p>
        </p:txBody>
      </p:sp>
      <p:sp>
        <p:nvSpPr>
          <p:cNvPr id="54" name="Text 52"/>
          <p:cNvSpPr/>
          <p:nvPr/>
        </p:nvSpPr>
        <p:spPr>
          <a:xfrm>
            <a:off x="4023360" y="4754880"/>
            <a:ext cx="173736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83</a:t>
            </a:r>
            <a:endParaRPr lang="en-US" sz="1300" dirty="0"/>
          </a:p>
        </p:txBody>
      </p:sp>
      <p:sp>
        <p:nvSpPr>
          <p:cNvPr id="55" name="Text 53"/>
          <p:cNvSpPr/>
          <p:nvPr/>
        </p:nvSpPr>
        <p:spPr>
          <a:xfrm>
            <a:off x="5760720" y="4754880"/>
            <a:ext cx="210312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$6,000</a:t>
            </a:r>
            <a:endParaRPr lang="en-US" sz="1300" dirty="0"/>
          </a:p>
        </p:txBody>
      </p:sp>
      <p:sp>
        <p:nvSpPr>
          <p:cNvPr id="56" name="Text 54"/>
          <p:cNvSpPr/>
          <p:nvPr/>
        </p:nvSpPr>
        <p:spPr>
          <a:xfrm>
            <a:off x="7863840" y="4754880"/>
            <a:ext cx="192024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$85,402</a:t>
            </a:r>
            <a:endParaRPr lang="en-US" sz="1300" dirty="0"/>
          </a:p>
        </p:txBody>
      </p:sp>
      <p:sp>
        <p:nvSpPr>
          <p:cNvPr id="57" name="Text 55"/>
          <p:cNvSpPr/>
          <p:nvPr/>
        </p:nvSpPr>
        <p:spPr>
          <a:xfrm>
            <a:off x="9784080" y="4754880"/>
            <a:ext cx="1828800" cy="457200"/>
          </a:xfrm>
          <a:prstGeom prst="rect">
            <a:avLst/>
          </a:prstGeom>
          <a:noFill/>
          <a:ln/>
        </p:spPr>
        <p:txBody>
          <a:bodyPr wrap="square" rtlCol="0" anchor="ctr"/>
          <a:lstStyle/>
          <a:p>
            <a:pPr algn="ctr" indent="0" marL="0">
              <a:buNone/>
            </a:pPr>
            <a:r>
              <a:rPr lang="en-US" sz="1400" b="1" dirty="0">
                <a:solidFill>
                  <a:srgbClr val="4ADE80"/>
                </a:solidFill>
                <a:latin typeface="Calibri" pitchFamily="34" charset="0"/>
                <a:ea typeface="Calibri" pitchFamily="34" charset="-122"/>
                <a:cs typeface="Calibri" pitchFamily="34" charset="-120"/>
              </a:rPr>
              <a:t>14.2x</a:t>
            </a:r>
            <a:endParaRPr lang="en-US" sz="1400" dirty="0"/>
          </a:p>
        </p:txBody>
      </p:sp>
      <p:sp>
        <p:nvSpPr>
          <p:cNvPr id="58" name="Shape 56"/>
          <p:cNvSpPr/>
          <p:nvPr/>
        </p:nvSpPr>
        <p:spPr>
          <a:xfrm>
            <a:off x="548640" y="5349240"/>
            <a:ext cx="11109960" cy="777240"/>
          </a:xfrm>
          <a:prstGeom prst="rect">
            <a:avLst/>
          </a:prstGeom>
          <a:solidFill>
            <a:srgbClr val="0F2647"/>
          </a:solidFill>
          <a:ln/>
        </p:spPr>
      </p:sp>
      <p:sp>
        <p:nvSpPr>
          <p:cNvPr id="59" name="Text 57"/>
          <p:cNvSpPr/>
          <p:nvPr/>
        </p:nvSpPr>
        <p:spPr>
          <a:xfrm>
            <a:off x="777240" y="5394960"/>
            <a:ext cx="10698480" cy="685800"/>
          </a:xfrm>
          <a:prstGeom prst="rect">
            <a:avLst/>
          </a:prstGeom>
          <a:noFill/>
          <a:ln/>
        </p:spPr>
        <p:txBody>
          <a:bodyPr wrap="square" rtlCol="0" anchor="ctr"/>
          <a:lstStyle/>
          <a:p>
            <a:pPr indent="0" marL="0">
              <a:buNone/>
            </a:pPr>
            <a:r>
              <a:rPr lang="en-US" sz="1300" b="1" dirty="0">
                <a:solidFill>
                  <a:srgbClr val="4FC3F7"/>
                </a:solidFill>
                <a:latin typeface="Calibri" pitchFamily="34" charset="0"/>
                <a:ea typeface="Calibri" pitchFamily="34" charset="-122"/>
                <a:cs typeface="Calibri" pitchFamily="34" charset="-120"/>
              </a:rPr>
              <a:t>Insight:  </a:t>
            </a:r>
            <a:pPr indent="0" marL="0">
              <a:buNone/>
            </a:pPr>
            <a:r>
              <a:rPr lang="en-US" sz="1300" dirty="0">
                <a:solidFill>
                  <a:srgbClr val="CADCFC"/>
                </a:solidFill>
                <a:latin typeface="Calibri" pitchFamily="34" charset="0"/>
                <a:ea typeface="Calibri" pitchFamily="34" charset="-122"/>
                <a:cs typeface="Calibri" pitchFamily="34" charset="-120"/>
              </a:rPr>
              <a:t>Even the bottom 25% of users return 0x — the program has no underwater segment. Moving bottom-quartile users to median adds ~$4,612 monthly value.</a:t>
            </a:r>
            <a:endParaRPr lang="en-US" sz="1300" dirty="0"/>
          </a:p>
        </p:txBody>
      </p:sp>
      <p:sp>
        <p:nvSpPr>
          <p:cNvPr id="60" name="Text 58"/>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M365 Copilot ROI Analysis  |  16 weeks  |  4 Organization</a:t>
            </a:r>
            <a:endParaRPr lang="en-US" sz="900" dirty="0"/>
          </a:p>
        </p:txBody>
      </p:sp>
      <p:sp>
        <p:nvSpPr>
          <p:cNvPr id="61" name="Text 59"/>
          <p:cNvSpPr/>
          <p:nvPr/>
        </p:nvSpPr>
        <p:spPr>
          <a:xfrm>
            <a:off x="11155680" y="6537960"/>
            <a:ext cx="548640" cy="274320"/>
          </a:xfrm>
          <a:prstGeom prst="rect">
            <a:avLst/>
          </a:prstGeom>
          <a:noFill/>
          <a:ln/>
        </p:spPr>
        <p:txBody>
          <a:bodyPr wrap="square" rtlCol="0" anchor="ctr"/>
          <a:lstStyle/>
          <a:p>
            <a:pPr algn="r" indent="0" marL="0">
              <a:buNone/>
            </a:pPr>
            <a:r>
              <a:rPr lang="en-US" sz="900" dirty="0">
                <a:solidFill>
                  <a:srgbClr val="9AB0CC"/>
                </a:solidFill>
                <a:latin typeface="Calibri" pitchFamily="34" charset="0"/>
                <a:ea typeface="Calibri" pitchFamily="34" charset="-122"/>
                <a:cs typeface="Calibri" pitchFamily="34" charset="-120"/>
              </a:rPr>
              <a:t>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BREAK-EVEN &amp; PRICING SENSITIVITY</a:t>
            </a:r>
            <a:endParaRPr lang="en-US" sz="1100" dirty="0"/>
          </a:p>
        </p:txBody>
      </p:sp>
      <p:sp>
        <p:nvSpPr>
          <p:cNvPr id="3" name="Text 1"/>
          <p:cNvSpPr/>
          <p:nvPr/>
        </p:nvSpPr>
        <p:spPr>
          <a:xfrm>
            <a:off x="548640" y="777240"/>
            <a:ext cx="11155680" cy="5943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Users average ~83 actions per user per month — 22× the break-even threshold</a:t>
            </a:r>
            <a:endParaRPr lang="en-US" sz="2800" dirty="0"/>
          </a:p>
        </p:txBody>
      </p:sp>
      <p:graphicFrame>
        <p:nvGraphicFramePr>
          <p:cNvPr id="4" name="Chart 0" descr=""/>
          <p:cNvGraphicFramePr/>
          <p:nvPr/>
        </p:nvGraphicFramePr>
        <p:xfrm>
          <a:off x="548640" y="164592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80960" y="1463040"/>
            <a:ext cx="3977640" cy="2286000"/>
          </a:xfrm>
          <a:prstGeom prst="rect">
            <a:avLst/>
          </a:prstGeom>
          <a:solidFill>
            <a:srgbClr val="0F2647"/>
          </a:solidFill>
          <a:ln/>
        </p:spPr>
      </p:sp>
      <p:sp>
        <p:nvSpPr>
          <p:cNvPr id="6" name="Text 3"/>
          <p:cNvSpPr/>
          <p:nvPr/>
        </p:nvSpPr>
        <p:spPr>
          <a:xfrm>
            <a:off x="7863840" y="1783080"/>
            <a:ext cx="3657600" cy="320040"/>
          </a:xfrm>
          <a:prstGeom prst="rect">
            <a:avLst/>
          </a:prstGeom>
          <a:noFill/>
          <a:ln/>
        </p:spPr>
        <p:txBody>
          <a:bodyPr wrap="square" rtlCol="0" anchor="ctr"/>
          <a:lstStyle/>
          <a:p>
            <a:pPr indent="0" marL="0">
              <a:buNone/>
            </a:pPr>
            <a:r>
              <a:rPr lang="en-US" sz="1200" b="1" dirty="0">
                <a:solidFill>
                  <a:srgbClr val="9AB0CC"/>
                </a:solidFill>
                <a:latin typeface="Calibri" pitchFamily="34" charset="0"/>
                <a:ea typeface="Calibri" pitchFamily="34" charset="-122"/>
                <a:cs typeface="Calibri" pitchFamily="34" charset="-120"/>
              </a:rPr>
              <a:t>YOUR ACTUAL ROI</a:t>
            </a:r>
            <a:endParaRPr lang="en-US" sz="1200" dirty="0"/>
          </a:p>
        </p:txBody>
      </p:sp>
      <p:sp>
        <p:nvSpPr>
          <p:cNvPr id="7" name="Text 4"/>
          <p:cNvSpPr/>
          <p:nvPr/>
        </p:nvSpPr>
        <p:spPr>
          <a:xfrm>
            <a:off x="7863840" y="2240280"/>
            <a:ext cx="2011680" cy="50292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$30/mo</a:t>
            </a:r>
            <a:endParaRPr lang="en-US" sz="1300" dirty="0"/>
          </a:p>
        </p:txBody>
      </p:sp>
      <p:sp>
        <p:nvSpPr>
          <p:cNvPr id="8" name="Text 5"/>
          <p:cNvSpPr/>
          <p:nvPr/>
        </p:nvSpPr>
        <p:spPr>
          <a:xfrm>
            <a:off x="9784080" y="2240280"/>
            <a:ext cx="1828800" cy="502920"/>
          </a:xfrm>
          <a:prstGeom prst="rect">
            <a:avLst/>
          </a:prstGeom>
          <a:noFill/>
          <a:ln/>
        </p:spPr>
        <p:txBody>
          <a:bodyPr wrap="square" rtlCol="0" anchor="ctr"/>
          <a:lstStyle/>
          <a:p>
            <a:pPr algn="r" indent="0" marL="0">
              <a:buNone/>
            </a:pPr>
            <a:r>
              <a:rPr lang="en-US" sz="2400" b="1" dirty="0">
                <a:solidFill>
                  <a:srgbClr val="4ADE80"/>
                </a:solidFill>
                <a:latin typeface="Cambria" pitchFamily="34" charset="0"/>
                <a:ea typeface="Cambria" pitchFamily="34" charset="-122"/>
                <a:cs typeface="Cambria" pitchFamily="34" charset="-120"/>
              </a:rPr>
              <a:t>21.6x</a:t>
            </a:r>
            <a:endParaRPr lang="en-US" sz="2400" dirty="0"/>
          </a:p>
        </p:txBody>
      </p:sp>
      <p:sp>
        <p:nvSpPr>
          <p:cNvPr id="9" name="Text 6"/>
          <p:cNvSpPr/>
          <p:nvPr/>
        </p:nvSpPr>
        <p:spPr>
          <a:xfrm>
            <a:off x="7863840" y="3291840"/>
            <a:ext cx="3657600" cy="109728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Users average ~83 actions/user/mo — far above the 3.8 actions/user/mo needed to break even at $30/user/mo.</a:t>
            </a:r>
            <a:endParaRPr lang="en-US" sz="1200" dirty="0"/>
          </a:p>
        </p:txBody>
      </p:sp>
      <p:sp>
        <p:nvSpPr>
          <p:cNvPr id="10" name="Text 7"/>
          <p:cNvSpPr/>
          <p:nvPr/>
        </p:nvSpPr>
        <p:spPr>
          <a:xfrm>
            <a:off x="548640" y="6080760"/>
            <a:ext cx="11064240" cy="274320"/>
          </a:xfrm>
          <a:prstGeom prst="rect">
            <a:avLst/>
          </a:prstGeom>
          <a:noFill/>
          <a:ln/>
        </p:spPr>
        <p:txBody>
          <a:bodyPr wrap="square" rtlCol="0" anchor="ctr"/>
          <a:lstStyle/>
          <a:p>
            <a:pPr indent="0" marL="0">
              <a:buNone/>
            </a:pPr>
            <a:r>
              <a:rPr lang="en-US" sz="1000" dirty="0">
                <a:solidFill>
                  <a:srgbClr val="9AB0CC"/>
                </a:solidFill>
                <a:latin typeface="Calibri" pitchFamily="34" charset="0"/>
                <a:ea typeface="Calibri" pitchFamily="34" charset="-122"/>
                <a:cs typeface="Calibri" pitchFamily="34" charset="-120"/>
              </a:rPr>
              <a:t>Methodology: break-even = license_cost ÷ value_per_action; value_per_action = (6 min ÷ 60) × $78/hr = $7.80/action.</a:t>
            </a:r>
            <a:endParaRPr lang="en-US" sz="1000" dirty="0"/>
          </a:p>
        </p:txBody>
      </p:sp>
      <p:sp>
        <p:nvSpPr>
          <p:cNvPr id="11" name="Text 8"/>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M365 Copilot ROI Analysis  |  16 weeks  |  4 Organization</a:t>
            </a:r>
            <a:endParaRPr lang="en-US" sz="900" dirty="0"/>
          </a:p>
        </p:txBody>
      </p:sp>
      <p:sp>
        <p:nvSpPr>
          <p:cNvPr id="12" name="Text 9"/>
          <p:cNvSpPr/>
          <p:nvPr/>
        </p:nvSpPr>
        <p:spPr>
          <a:xfrm>
            <a:off x="11155680" y="6537960"/>
            <a:ext cx="548640" cy="274320"/>
          </a:xfrm>
          <a:prstGeom prst="rect">
            <a:avLst/>
          </a:prstGeom>
          <a:noFill/>
          <a:ln/>
        </p:spPr>
        <p:txBody>
          <a:bodyPr wrap="square" rtlCol="0" anchor="ctr"/>
          <a:lstStyle/>
          <a:p>
            <a:pPr algn="r" indent="0" marL="0">
              <a:buNone/>
            </a:pPr>
            <a:r>
              <a:rPr lang="en-US" sz="900" dirty="0">
                <a:solidFill>
                  <a:srgbClr val="9AB0CC"/>
                </a:solidFill>
                <a:latin typeface="Calibri" pitchFamily="34" charset="0"/>
                <a:ea typeface="Calibri" pitchFamily="34" charset="-122"/>
                <a:cs typeface="Calibri"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UNLICENSED USER OPPORTUNITY COST</a:t>
            </a:r>
            <a:endParaRPr lang="en-US" sz="1100" dirty="0"/>
          </a:p>
        </p:txBody>
      </p:sp>
      <p:sp>
        <p:nvSpPr>
          <p:cNvPr id="3" name="Text 1"/>
          <p:cNvSpPr/>
          <p:nvPr/>
        </p:nvSpPr>
        <p:spPr>
          <a:xfrm>
            <a:off x="548640" y="777240"/>
            <a:ext cx="11155680" cy="5943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Each 1,000 unlicensed seats leaves $3,521,904/year on the table (realistic case)</a:t>
            </a:r>
            <a:endParaRPr lang="en-US" sz="2800" dirty="0"/>
          </a:p>
        </p:txBody>
      </p:sp>
      <p:sp>
        <p:nvSpPr>
          <p:cNvPr id="4" name="Shape 2"/>
          <p:cNvSpPr/>
          <p:nvPr/>
        </p:nvSpPr>
        <p:spPr>
          <a:xfrm>
            <a:off x="548640" y="1463040"/>
            <a:ext cx="5486400" cy="4709160"/>
          </a:xfrm>
          <a:prstGeom prst="rect">
            <a:avLst/>
          </a:prstGeom>
          <a:solidFill>
            <a:srgbClr val="0F2647"/>
          </a:solidFill>
          <a:ln/>
        </p:spPr>
      </p:sp>
      <p:sp>
        <p:nvSpPr>
          <p:cNvPr id="5" name="Text 3"/>
          <p:cNvSpPr/>
          <p:nvPr/>
        </p:nvSpPr>
        <p:spPr>
          <a:xfrm>
            <a:off x="777240" y="1828800"/>
            <a:ext cx="5029200" cy="36576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ANNUAL OPPORTUNITY  —  per 1,000 unlicensed users</a:t>
            </a:r>
            <a:endParaRPr lang="en-US" sz="1100" dirty="0"/>
          </a:p>
        </p:txBody>
      </p:sp>
      <p:sp>
        <p:nvSpPr>
          <p:cNvPr id="6" name="Text 4"/>
          <p:cNvSpPr/>
          <p:nvPr/>
        </p:nvSpPr>
        <p:spPr>
          <a:xfrm>
            <a:off x="777240" y="2240280"/>
            <a:ext cx="5029200" cy="1280160"/>
          </a:xfrm>
          <a:prstGeom prst="rect">
            <a:avLst/>
          </a:prstGeom>
          <a:noFill/>
          <a:ln/>
        </p:spPr>
        <p:txBody>
          <a:bodyPr wrap="square" rtlCol="0" anchor="ctr"/>
          <a:lstStyle/>
          <a:p>
            <a:pPr indent="0" marL="0">
              <a:buNone/>
            </a:pPr>
            <a:r>
              <a:rPr lang="en-US" sz="6000" b="1" dirty="0">
                <a:solidFill>
                  <a:srgbClr val="4ADE80"/>
                </a:solidFill>
                <a:latin typeface="Cambria" pitchFamily="34" charset="0"/>
                <a:ea typeface="Cambria" pitchFamily="34" charset="-122"/>
                <a:cs typeface="Cambria" pitchFamily="34" charset="-120"/>
              </a:rPr>
              <a:t>$3,521,904</a:t>
            </a:r>
            <a:endParaRPr lang="en-US" sz="6000" dirty="0"/>
          </a:p>
        </p:txBody>
      </p:sp>
      <p:sp>
        <p:nvSpPr>
          <p:cNvPr id="7" name="Text 5"/>
          <p:cNvSpPr/>
          <p:nvPr/>
        </p:nvSpPr>
        <p:spPr>
          <a:xfrm>
            <a:off x="777240" y="3566160"/>
            <a:ext cx="5029200" cy="41148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Realistic case  •  $293,492 net gain / month per 1,000 users</a:t>
            </a:r>
            <a:endParaRPr lang="en-US" sz="1300" dirty="0"/>
          </a:p>
        </p:txBody>
      </p:sp>
      <p:sp>
        <p:nvSpPr>
          <p:cNvPr id="8" name="Shape 6"/>
          <p:cNvSpPr/>
          <p:nvPr/>
        </p:nvSpPr>
        <p:spPr>
          <a:xfrm>
            <a:off x="777240" y="4069080"/>
            <a:ext cx="5029200" cy="36576"/>
          </a:xfrm>
          <a:prstGeom prst="rect">
            <a:avLst/>
          </a:prstGeom>
          <a:solidFill>
            <a:srgbClr val="16335E"/>
          </a:solidFill>
          <a:ln/>
        </p:spPr>
      </p:sp>
      <p:sp>
        <p:nvSpPr>
          <p:cNvPr id="9" name="Text 7"/>
          <p:cNvSpPr/>
          <p:nvPr/>
        </p:nvSpPr>
        <p:spPr>
          <a:xfrm>
            <a:off x="777240" y="4206240"/>
            <a:ext cx="5029200" cy="274320"/>
          </a:xfrm>
          <a:prstGeom prst="rect">
            <a:avLst/>
          </a:prstGeom>
          <a:noFill/>
          <a:ln/>
        </p:spPr>
        <p:txBody>
          <a:bodyPr wrap="square" rtlCol="0" anchor="ctr"/>
          <a:lstStyle/>
          <a:p>
            <a:pPr indent="0" marL="0">
              <a:buNone/>
            </a:pPr>
            <a:r>
              <a:rPr lang="en-US" sz="1000" b="1" dirty="0">
                <a:solidFill>
                  <a:srgbClr val="4FC3F7"/>
                </a:solidFill>
                <a:latin typeface="Calibri" pitchFamily="34" charset="0"/>
                <a:ea typeface="Calibri" pitchFamily="34" charset="-122"/>
                <a:cs typeface="Calibri" pitchFamily="34" charset="-120"/>
              </a:rPr>
              <a:t>SCENARIO RANGE  (annual net gain, per 1,000 users)</a:t>
            </a:r>
            <a:endParaRPr lang="en-US" sz="1000" dirty="0"/>
          </a:p>
        </p:txBody>
      </p:sp>
      <p:sp>
        <p:nvSpPr>
          <p:cNvPr id="10" name="Text 8"/>
          <p:cNvSpPr/>
          <p:nvPr/>
        </p:nvSpPr>
        <p:spPr>
          <a:xfrm>
            <a:off x="777240" y="4526280"/>
            <a:ext cx="3108960" cy="41148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10% (Conservative floor)</a:t>
            </a:r>
            <a:endParaRPr lang="en-US" sz="1100" dirty="0"/>
          </a:p>
        </p:txBody>
      </p:sp>
      <p:sp>
        <p:nvSpPr>
          <p:cNvPr id="11" name="Text 9"/>
          <p:cNvSpPr/>
          <p:nvPr/>
        </p:nvSpPr>
        <p:spPr>
          <a:xfrm>
            <a:off x="3886200" y="4526280"/>
            <a:ext cx="1920240" cy="411480"/>
          </a:xfrm>
          <a:prstGeom prst="rect">
            <a:avLst/>
          </a:prstGeom>
          <a:noFill/>
          <a:ln/>
        </p:spPr>
        <p:txBody>
          <a:bodyPr wrap="square" rtlCol="0" anchor="ctr"/>
          <a:lstStyle/>
          <a:p>
            <a:pPr algn="r" indent="0" marL="0">
              <a:buNone/>
            </a:pPr>
            <a:r>
              <a:rPr lang="en-US" sz="1400" b="1" dirty="0">
                <a:solidFill>
                  <a:srgbClr val="9AB0CC"/>
                </a:solidFill>
                <a:latin typeface="Cambria" pitchFamily="34" charset="0"/>
                <a:ea typeface="Cambria" pitchFamily="34" charset="-122"/>
                <a:cs typeface="Cambria" pitchFamily="34" charset="-120"/>
              </a:rPr>
              <a:t>$416,381/yr</a:t>
            </a:r>
            <a:endParaRPr lang="en-US" sz="1400" dirty="0"/>
          </a:p>
        </p:txBody>
      </p:sp>
      <p:sp>
        <p:nvSpPr>
          <p:cNvPr id="12" name="Text 10"/>
          <p:cNvSpPr/>
          <p:nvPr/>
        </p:nvSpPr>
        <p:spPr>
          <a:xfrm>
            <a:off x="777240" y="5029200"/>
            <a:ext cx="3108960" cy="41148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50% (Realistic ramp)</a:t>
            </a:r>
            <a:endParaRPr lang="en-US" sz="1100" dirty="0"/>
          </a:p>
        </p:txBody>
      </p:sp>
      <p:sp>
        <p:nvSpPr>
          <p:cNvPr id="13" name="Text 11"/>
          <p:cNvSpPr/>
          <p:nvPr/>
        </p:nvSpPr>
        <p:spPr>
          <a:xfrm>
            <a:off x="3886200" y="5029200"/>
            <a:ext cx="1920240" cy="411480"/>
          </a:xfrm>
          <a:prstGeom prst="rect">
            <a:avLst/>
          </a:prstGeom>
          <a:noFill/>
          <a:ln/>
        </p:spPr>
        <p:txBody>
          <a:bodyPr wrap="square" rtlCol="0" anchor="ctr"/>
          <a:lstStyle/>
          <a:p>
            <a:pPr algn="r" indent="0" marL="0">
              <a:buNone/>
            </a:pPr>
            <a:r>
              <a:rPr lang="en-US" sz="1400" b="1" dirty="0">
                <a:solidFill>
                  <a:srgbClr val="4ADE80"/>
                </a:solidFill>
                <a:latin typeface="Cambria" pitchFamily="34" charset="0"/>
                <a:ea typeface="Cambria" pitchFamily="34" charset="-122"/>
                <a:cs typeface="Cambria" pitchFamily="34" charset="-120"/>
              </a:rPr>
              <a:t>$3,521,904/yr</a:t>
            </a:r>
            <a:endParaRPr lang="en-US" sz="1400" dirty="0"/>
          </a:p>
        </p:txBody>
      </p:sp>
      <p:sp>
        <p:nvSpPr>
          <p:cNvPr id="14" name="Text 12"/>
          <p:cNvSpPr/>
          <p:nvPr/>
        </p:nvSpPr>
        <p:spPr>
          <a:xfrm>
            <a:off x="777240" y="5532120"/>
            <a:ext cx="3108960" cy="41148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100% (Full licensed parity)</a:t>
            </a:r>
            <a:endParaRPr lang="en-US" sz="1100" dirty="0"/>
          </a:p>
        </p:txBody>
      </p:sp>
      <p:sp>
        <p:nvSpPr>
          <p:cNvPr id="15" name="Text 13"/>
          <p:cNvSpPr/>
          <p:nvPr/>
        </p:nvSpPr>
        <p:spPr>
          <a:xfrm>
            <a:off x="3886200" y="5532120"/>
            <a:ext cx="1920240" cy="411480"/>
          </a:xfrm>
          <a:prstGeom prst="rect">
            <a:avLst/>
          </a:prstGeom>
          <a:noFill/>
          <a:ln/>
        </p:spPr>
        <p:txBody>
          <a:bodyPr wrap="square" rtlCol="0" anchor="ctr"/>
          <a:lstStyle/>
          <a:p>
            <a:pPr algn="r" indent="0" marL="0">
              <a:buNone/>
            </a:pPr>
            <a:r>
              <a:rPr lang="en-US" sz="1400" b="1" dirty="0">
                <a:solidFill>
                  <a:srgbClr val="4FC3F7"/>
                </a:solidFill>
                <a:latin typeface="Cambria" pitchFamily="34" charset="0"/>
                <a:ea typeface="Cambria" pitchFamily="34" charset="-122"/>
                <a:cs typeface="Cambria" pitchFamily="34" charset="-120"/>
              </a:rPr>
              <a:t>$7,403,807/yr</a:t>
            </a:r>
            <a:endParaRPr lang="en-US" sz="1400" dirty="0"/>
          </a:p>
        </p:txBody>
      </p:sp>
      <p:sp>
        <p:nvSpPr>
          <p:cNvPr id="16" name="Shape 14"/>
          <p:cNvSpPr/>
          <p:nvPr/>
        </p:nvSpPr>
        <p:spPr>
          <a:xfrm>
            <a:off x="6400800" y="1463040"/>
            <a:ext cx="5257800" cy="1078992"/>
          </a:xfrm>
          <a:prstGeom prst="rect">
            <a:avLst/>
          </a:prstGeom>
          <a:solidFill>
            <a:srgbClr val="0F2647"/>
          </a:solidFill>
          <a:ln/>
        </p:spPr>
      </p:sp>
      <p:sp>
        <p:nvSpPr>
          <p:cNvPr id="17" name="Text 15"/>
          <p:cNvSpPr/>
          <p:nvPr/>
        </p:nvSpPr>
        <p:spPr>
          <a:xfrm>
            <a:off x="6583680" y="1554480"/>
            <a:ext cx="4892040" cy="256032"/>
          </a:xfrm>
          <a:prstGeom prst="rect">
            <a:avLst/>
          </a:prstGeom>
          <a:noFill/>
          <a:ln/>
        </p:spPr>
        <p:txBody>
          <a:bodyPr wrap="square" rtlCol="0" anchor="ctr"/>
          <a:lstStyle/>
          <a:p>
            <a:pPr indent="0" marL="0">
              <a:buNone/>
            </a:pPr>
            <a:r>
              <a:rPr lang="en-US" sz="900" b="1" dirty="0">
                <a:solidFill>
                  <a:srgbClr val="9AB0CC"/>
                </a:solidFill>
                <a:latin typeface="Calibri" pitchFamily="34" charset="0"/>
                <a:ea typeface="Calibri" pitchFamily="34" charset="-122"/>
                <a:cs typeface="Calibri" pitchFamily="34" charset="-120"/>
              </a:rPr>
              <a:t>LICENSING COST  /  PER 1,000 USERS  /  MONTH</a:t>
            </a:r>
            <a:endParaRPr lang="en-US" sz="900" dirty="0"/>
          </a:p>
        </p:txBody>
      </p:sp>
      <p:sp>
        <p:nvSpPr>
          <p:cNvPr id="18" name="Text 16"/>
          <p:cNvSpPr/>
          <p:nvPr/>
        </p:nvSpPr>
        <p:spPr>
          <a:xfrm>
            <a:off x="6583680" y="1810512"/>
            <a:ext cx="4892040" cy="411480"/>
          </a:xfrm>
          <a:prstGeom prst="rect">
            <a:avLst/>
          </a:prstGeom>
          <a:noFill/>
          <a:ln/>
        </p:spPr>
        <p:txBody>
          <a:bodyPr wrap="square" rtlCol="0" anchor="ctr"/>
          <a:lstStyle/>
          <a:p>
            <a:pPr indent="0" marL="0">
              <a:buNone/>
            </a:pPr>
            <a:r>
              <a:rPr lang="en-US" sz="2400" b="1" dirty="0">
                <a:solidFill>
                  <a:srgbClr val="F26D6D"/>
                </a:solidFill>
                <a:latin typeface="Cambria" pitchFamily="34" charset="0"/>
                <a:ea typeface="Cambria" pitchFamily="34" charset="-122"/>
                <a:cs typeface="Cambria" pitchFamily="34" charset="-120"/>
              </a:rPr>
              <a:t>$30,000</a:t>
            </a:r>
            <a:endParaRPr lang="en-US" sz="2400" dirty="0"/>
          </a:p>
        </p:txBody>
      </p:sp>
      <p:sp>
        <p:nvSpPr>
          <p:cNvPr id="19" name="Text 17"/>
          <p:cNvSpPr/>
          <p:nvPr/>
        </p:nvSpPr>
        <p:spPr>
          <a:xfrm>
            <a:off x="6583680" y="2240280"/>
            <a:ext cx="489204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1,000 users × $30/user/mo  =  $30,000/mo</a:t>
            </a:r>
            <a:endParaRPr lang="en-US" sz="900" dirty="0"/>
          </a:p>
        </p:txBody>
      </p:sp>
      <p:sp>
        <p:nvSpPr>
          <p:cNvPr id="20" name="Shape 18"/>
          <p:cNvSpPr/>
          <p:nvPr/>
        </p:nvSpPr>
        <p:spPr>
          <a:xfrm>
            <a:off x="6400800" y="2651760"/>
            <a:ext cx="5257800" cy="1078992"/>
          </a:xfrm>
          <a:prstGeom prst="rect">
            <a:avLst/>
          </a:prstGeom>
          <a:solidFill>
            <a:srgbClr val="0F2647"/>
          </a:solidFill>
          <a:ln/>
        </p:spPr>
      </p:sp>
      <p:sp>
        <p:nvSpPr>
          <p:cNvPr id="21" name="Text 19"/>
          <p:cNvSpPr/>
          <p:nvPr/>
        </p:nvSpPr>
        <p:spPr>
          <a:xfrm>
            <a:off x="6583680" y="2743200"/>
            <a:ext cx="4892040" cy="256032"/>
          </a:xfrm>
          <a:prstGeom prst="rect">
            <a:avLst/>
          </a:prstGeom>
          <a:noFill/>
          <a:ln/>
        </p:spPr>
        <p:txBody>
          <a:bodyPr wrap="square" rtlCol="0" anchor="ctr"/>
          <a:lstStyle/>
          <a:p>
            <a:pPr indent="0" marL="0">
              <a:buNone/>
            </a:pPr>
            <a:r>
              <a:rPr lang="en-US" sz="900" b="1" dirty="0">
                <a:solidFill>
                  <a:srgbClr val="9AB0CC"/>
                </a:solidFill>
                <a:latin typeface="Calibri" pitchFamily="34" charset="0"/>
                <a:ea typeface="Calibri" pitchFamily="34" charset="-122"/>
                <a:cs typeface="Calibri" pitchFamily="34" charset="-120"/>
              </a:rPr>
              <a:t>POTENTIAL VALUE  —  10% FLOOR  /  PER 1,000  /  MONTH</a:t>
            </a:r>
            <a:endParaRPr lang="en-US" sz="900" dirty="0"/>
          </a:p>
        </p:txBody>
      </p:sp>
      <p:sp>
        <p:nvSpPr>
          <p:cNvPr id="22" name="Text 20"/>
          <p:cNvSpPr/>
          <p:nvPr/>
        </p:nvSpPr>
        <p:spPr>
          <a:xfrm>
            <a:off x="6583680" y="2999232"/>
            <a:ext cx="4892040" cy="411480"/>
          </a:xfrm>
          <a:prstGeom prst="rect">
            <a:avLst/>
          </a:prstGeom>
          <a:noFill/>
          <a:ln/>
        </p:spPr>
        <p:txBody>
          <a:bodyPr wrap="square" rtlCol="0" anchor="ctr"/>
          <a:lstStyle/>
          <a:p>
            <a:pPr indent="0" marL="0">
              <a:buNone/>
            </a:pPr>
            <a:r>
              <a:rPr lang="en-US" sz="2400" b="1" dirty="0">
                <a:solidFill>
                  <a:srgbClr val="9AB0CC"/>
                </a:solidFill>
                <a:latin typeface="Cambria" pitchFamily="34" charset="0"/>
                <a:ea typeface="Cambria" pitchFamily="34" charset="-122"/>
                <a:cs typeface="Cambria" pitchFamily="34" charset="-120"/>
              </a:rPr>
              <a:t>$64,698</a:t>
            </a:r>
            <a:endParaRPr lang="en-US" sz="2400" dirty="0"/>
          </a:p>
        </p:txBody>
      </p:sp>
      <p:sp>
        <p:nvSpPr>
          <p:cNvPr id="23" name="Text 21"/>
          <p:cNvSpPr/>
          <p:nvPr/>
        </p:nvSpPr>
        <p:spPr>
          <a:xfrm>
            <a:off x="6583680" y="3429000"/>
            <a:ext cx="489204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1,000 × $65/user/mo  (10% of $647 licensed avg)</a:t>
            </a:r>
            <a:endParaRPr lang="en-US" sz="900" dirty="0"/>
          </a:p>
        </p:txBody>
      </p:sp>
      <p:sp>
        <p:nvSpPr>
          <p:cNvPr id="24" name="Shape 22"/>
          <p:cNvSpPr/>
          <p:nvPr/>
        </p:nvSpPr>
        <p:spPr>
          <a:xfrm>
            <a:off x="6400800" y="3840480"/>
            <a:ext cx="5257800" cy="1078992"/>
          </a:xfrm>
          <a:prstGeom prst="rect">
            <a:avLst/>
          </a:prstGeom>
          <a:solidFill>
            <a:srgbClr val="0F2647"/>
          </a:solidFill>
          <a:ln/>
        </p:spPr>
      </p:sp>
      <p:sp>
        <p:nvSpPr>
          <p:cNvPr id="25" name="Text 23"/>
          <p:cNvSpPr/>
          <p:nvPr/>
        </p:nvSpPr>
        <p:spPr>
          <a:xfrm>
            <a:off x="6583680" y="3931920"/>
            <a:ext cx="4892040" cy="256032"/>
          </a:xfrm>
          <a:prstGeom prst="rect">
            <a:avLst/>
          </a:prstGeom>
          <a:noFill/>
          <a:ln/>
        </p:spPr>
        <p:txBody>
          <a:bodyPr wrap="square" rtlCol="0" anchor="ctr"/>
          <a:lstStyle/>
          <a:p>
            <a:pPr indent="0" marL="0">
              <a:buNone/>
            </a:pPr>
            <a:r>
              <a:rPr lang="en-US" sz="900" b="1" dirty="0">
                <a:solidFill>
                  <a:srgbClr val="9AB0CC"/>
                </a:solidFill>
                <a:latin typeface="Calibri" pitchFamily="34" charset="0"/>
                <a:ea typeface="Calibri" pitchFamily="34" charset="-122"/>
                <a:cs typeface="Calibri" pitchFamily="34" charset="-120"/>
              </a:rPr>
              <a:t>POTENTIAL VALUE  —  50% REALISTIC  /  PER 1,000  /  MONTH</a:t>
            </a:r>
            <a:endParaRPr lang="en-US" sz="900" dirty="0"/>
          </a:p>
        </p:txBody>
      </p:sp>
      <p:sp>
        <p:nvSpPr>
          <p:cNvPr id="26" name="Text 24"/>
          <p:cNvSpPr/>
          <p:nvPr/>
        </p:nvSpPr>
        <p:spPr>
          <a:xfrm>
            <a:off x="6583680" y="4187952"/>
            <a:ext cx="4892040" cy="411480"/>
          </a:xfrm>
          <a:prstGeom prst="rect">
            <a:avLst/>
          </a:prstGeom>
          <a:noFill/>
          <a:ln/>
        </p:spPr>
        <p:txBody>
          <a:bodyPr wrap="square" rtlCol="0" anchor="ctr"/>
          <a:lstStyle/>
          <a:p>
            <a:pPr indent="0" marL="0">
              <a:buNone/>
            </a:pPr>
            <a:r>
              <a:rPr lang="en-US" sz="2400" b="1" dirty="0">
                <a:solidFill>
                  <a:srgbClr val="4FC3F7"/>
                </a:solidFill>
                <a:latin typeface="Cambria" pitchFamily="34" charset="0"/>
                <a:ea typeface="Cambria" pitchFamily="34" charset="-122"/>
                <a:cs typeface="Cambria" pitchFamily="34" charset="-120"/>
              </a:rPr>
              <a:t>$323,492</a:t>
            </a:r>
            <a:endParaRPr lang="en-US" sz="2400" dirty="0"/>
          </a:p>
        </p:txBody>
      </p:sp>
      <p:sp>
        <p:nvSpPr>
          <p:cNvPr id="27" name="Text 25"/>
          <p:cNvSpPr/>
          <p:nvPr/>
        </p:nvSpPr>
        <p:spPr>
          <a:xfrm>
            <a:off x="6583680" y="4617720"/>
            <a:ext cx="489204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1,000 × $323/user/mo  (50% of $647 licensed avg)</a:t>
            </a:r>
            <a:endParaRPr lang="en-US" sz="900" dirty="0"/>
          </a:p>
        </p:txBody>
      </p:sp>
      <p:sp>
        <p:nvSpPr>
          <p:cNvPr id="28" name="Shape 26"/>
          <p:cNvSpPr/>
          <p:nvPr/>
        </p:nvSpPr>
        <p:spPr>
          <a:xfrm>
            <a:off x="6400800" y="5029200"/>
            <a:ext cx="5257800" cy="1078992"/>
          </a:xfrm>
          <a:prstGeom prst="rect">
            <a:avLst/>
          </a:prstGeom>
          <a:solidFill>
            <a:srgbClr val="0F2647"/>
          </a:solidFill>
          <a:ln/>
        </p:spPr>
      </p:sp>
      <p:sp>
        <p:nvSpPr>
          <p:cNvPr id="29" name="Text 27"/>
          <p:cNvSpPr/>
          <p:nvPr/>
        </p:nvSpPr>
        <p:spPr>
          <a:xfrm>
            <a:off x="6583680" y="5120640"/>
            <a:ext cx="4892040" cy="256032"/>
          </a:xfrm>
          <a:prstGeom prst="rect">
            <a:avLst/>
          </a:prstGeom>
          <a:noFill/>
          <a:ln/>
        </p:spPr>
        <p:txBody>
          <a:bodyPr wrap="square" rtlCol="0" anchor="ctr"/>
          <a:lstStyle/>
          <a:p>
            <a:pPr indent="0" marL="0">
              <a:buNone/>
            </a:pPr>
            <a:r>
              <a:rPr lang="en-US" sz="900" b="1" dirty="0">
                <a:solidFill>
                  <a:srgbClr val="9AB0CC"/>
                </a:solidFill>
                <a:latin typeface="Calibri" pitchFamily="34" charset="0"/>
                <a:ea typeface="Calibri" pitchFamily="34" charset="-122"/>
                <a:cs typeface="Calibri" pitchFamily="34" charset="-120"/>
              </a:rPr>
              <a:t>POTENTIAL VALUE  —  100% PARITY  /  PER 1,000  /  MONTH</a:t>
            </a:r>
            <a:endParaRPr lang="en-US" sz="900" dirty="0"/>
          </a:p>
        </p:txBody>
      </p:sp>
      <p:sp>
        <p:nvSpPr>
          <p:cNvPr id="30" name="Text 28"/>
          <p:cNvSpPr/>
          <p:nvPr/>
        </p:nvSpPr>
        <p:spPr>
          <a:xfrm>
            <a:off x="6583680" y="5376672"/>
            <a:ext cx="4892040" cy="411480"/>
          </a:xfrm>
          <a:prstGeom prst="rect">
            <a:avLst/>
          </a:prstGeom>
          <a:noFill/>
          <a:ln/>
        </p:spPr>
        <p:txBody>
          <a:bodyPr wrap="square" rtlCol="0" anchor="ctr"/>
          <a:lstStyle/>
          <a:p>
            <a:pPr indent="0" marL="0">
              <a:buNone/>
            </a:pPr>
            <a:r>
              <a:rPr lang="en-US" sz="2400" b="1" dirty="0">
                <a:solidFill>
                  <a:srgbClr val="4ADE80"/>
                </a:solidFill>
                <a:latin typeface="Cambria" pitchFamily="34" charset="0"/>
                <a:ea typeface="Cambria" pitchFamily="34" charset="-122"/>
                <a:cs typeface="Cambria" pitchFamily="34" charset="-120"/>
              </a:rPr>
              <a:t>$646,984</a:t>
            </a:r>
            <a:endParaRPr lang="en-US" sz="2400" dirty="0"/>
          </a:p>
        </p:txBody>
      </p:sp>
      <p:sp>
        <p:nvSpPr>
          <p:cNvPr id="31" name="Text 29"/>
          <p:cNvSpPr/>
          <p:nvPr/>
        </p:nvSpPr>
        <p:spPr>
          <a:xfrm>
            <a:off x="6583680" y="5806440"/>
            <a:ext cx="4892040" cy="274320"/>
          </a:xfrm>
          <a:prstGeom prst="rect">
            <a:avLst/>
          </a:prstGeom>
          <a:noFill/>
          <a:ln/>
        </p:spPr>
        <p:txBody>
          <a:bodyPr wrap="square" rtlCol="0" anchor="ctr"/>
          <a:lstStyle/>
          <a:p>
            <a:pPr indent="0" marL="0">
              <a:buNone/>
            </a:pPr>
            <a:r>
              <a:rPr lang="en-US" sz="900" dirty="0">
                <a:solidFill>
                  <a:srgbClr val="CADCFC"/>
                </a:solidFill>
                <a:latin typeface="Calibri" pitchFamily="34" charset="0"/>
                <a:ea typeface="Calibri" pitchFamily="34" charset="-122"/>
                <a:cs typeface="Calibri" pitchFamily="34" charset="-120"/>
              </a:rPr>
              <a:t>1,000 × $647/user/mo  (matches today’s licensed avg)</a:t>
            </a:r>
            <a:endParaRPr lang="en-US" sz="900" dirty="0"/>
          </a:p>
        </p:txBody>
      </p:sp>
      <p:sp>
        <p:nvSpPr>
          <p:cNvPr id="32" name="Text 30"/>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M365 Copilot ROI Analysis  |  16 weeks  |  4 Organization</a:t>
            </a:r>
            <a:endParaRPr lang="en-US" sz="900" dirty="0"/>
          </a:p>
        </p:txBody>
      </p:sp>
      <p:sp>
        <p:nvSpPr>
          <p:cNvPr id="33" name="Text 31"/>
          <p:cNvSpPr/>
          <p:nvPr/>
        </p:nvSpPr>
        <p:spPr>
          <a:xfrm>
            <a:off x="11155680" y="6537960"/>
            <a:ext cx="548640" cy="274320"/>
          </a:xfrm>
          <a:prstGeom prst="rect">
            <a:avLst/>
          </a:prstGeom>
          <a:noFill/>
          <a:ln/>
        </p:spPr>
        <p:txBody>
          <a:bodyPr wrap="square" rtlCol="0" anchor="ctr"/>
          <a:lstStyle/>
          <a:p>
            <a:pPr algn="r" indent="0" marL="0">
              <a:buNone/>
            </a:pPr>
            <a:r>
              <a:rPr lang="en-US" sz="900" dirty="0">
                <a:solidFill>
                  <a:srgbClr val="9AB0CC"/>
                </a:solidFill>
                <a:latin typeface="Calibri" pitchFamily="34" charset="0"/>
                <a:ea typeface="Calibri" pitchFamily="34" charset="-122"/>
                <a:cs typeface="Calibri"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502920"/>
            <a:ext cx="7315200" cy="274320"/>
          </a:xfrm>
          <a:prstGeom prst="rect">
            <a:avLst/>
          </a:prstGeom>
          <a:noFill/>
          <a:ln/>
        </p:spPr>
        <p:txBody>
          <a:bodyPr wrap="square" rtlCol="0" anchor="ctr"/>
          <a:lstStyle/>
          <a:p>
            <a:pPr indent="0" marL="0">
              <a:buNone/>
            </a:pPr>
            <a:r>
              <a:rPr lang="en-US" sz="1100" b="1" dirty="0">
                <a:solidFill>
                  <a:srgbClr val="4FC3F7"/>
                </a:solidFill>
                <a:latin typeface="Calibri" pitchFamily="34" charset="0"/>
                <a:ea typeface="Calibri" pitchFamily="34" charset="-122"/>
                <a:cs typeface="Calibri" pitchFamily="34" charset="-120"/>
              </a:rPr>
              <a:t>EXPANSION PROJECTIONS</a:t>
            </a:r>
            <a:endParaRPr lang="en-US" sz="1100" dirty="0"/>
          </a:p>
        </p:txBody>
      </p:sp>
      <p:sp>
        <p:nvSpPr>
          <p:cNvPr id="3" name="Text 1"/>
          <p:cNvSpPr/>
          <p:nvPr/>
        </p:nvSpPr>
        <p:spPr>
          <a:xfrm>
            <a:off x="548640" y="777240"/>
            <a:ext cx="11155680" cy="5943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ROI compounds with scale through network effects</a:t>
            </a:r>
            <a:endParaRPr lang="en-US" sz="2800" dirty="0"/>
          </a:p>
        </p:txBody>
      </p:sp>
      <p:graphicFrame>
        <p:nvGraphicFramePr>
          <p:cNvPr id="4" name="Chart 0" descr=""/>
          <p:cNvGraphicFramePr/>
          <p:nvPr/>
        </p:nvGraphicFramePr>
        <p:xfrm>
          <a:off x="548640" y="1463040"/>
          <a:ext cx="768096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12480" y="1463040"/>
            <a:ext cx="3246120" cy="4206240"/>
          </a:xfrm>
          <a:prstGeom prst="rect">
            <a:avLst/>
          </a:prstGeom>
          <a:solidFill>
            <a:srgbClr val="0F2647"/>
          </a:solidFill>
          <a:ln/>
        </p:spPr>
      </p:sp>
      <p:sp>
        <p:nvSpPr>
          <p:cNvPr id="6" name="Text 3"/>
          <p:cNvSpPr/>
          <p:nvPr/>
        </p:nvSpPr>
        <p:spPr>
          <a:xfrm>
            <a:off x="8595360" y="1691640"/>
            <a:ext cx="2926080" cy="274320"/>
          </a:xfrm>
          <a:prstGeom prst="rect">
            <a:avLst/>
          </a:prstGeom>
          <a:noFill/>
          <a:ln/>
        </p:spPr>
        <p:txBody>
          <a:bodyPr wrap="square" rtlCol="0" anchor="ctr"/>
          <a:lstStyle/>
          <a:p>
            <a:pPr indent="0" marL="0">
              <a:buNone/>
            </a:pPr>
            <a:r>
              <a:rPr lang="en-US" sz="1000" b="1" dirty="0">
                <a:solidFill>
                  <a:srgbClr val="9AB0CC"/>
                </a:solidFill>
                <a:latin typeface="Calibri" pitchFamily="34" charset="0"/>
                <a:ea typeface="Calibri" pitchFamily="34" charset="-122"/>
                <a:cs typeface="Calibri" pitchFamily="34" charset="-120"/>
              </a:rPr>
              <a:t>PROJECTED ROI  +  ACTIONS/USER</a:t>
            </a:r>
            <a:endParaRPr lang="en-US" sz="1000" dirty="0"/>
          </a:p>
        </p:txBody>
      </p:sp>
      <p:sp>
        <p:nvSpPr>
          <p:cNvPr id="7" name="Text 4"/>
          <p:cNvSpPr/>
          <p:nvPr/>
        </p:nvSpPr>
        <p:spPr>
          <a:xfrm>
            <a:off x="8595360" y="1938528"/>
            <a:ext cx="2926080" cy="201168"/>
          </a:xfrm>
          <a:prstGeom prst="rect">
            <a:avLst/>
          </a:prstGeom>
          <a:noFill/>
          <a:ln/>
        </p:spPr>
        <p:txBody>
          <a:bodyPr wrap="square" rtlCol="0" anchor="ctr"/>
          <a:lstStyle/>
          <a:p>
            <a:pPr indent="0" marL="0">
              <a:buNone/>
            </a:pPr>
            <a:r>
              <a:rPr lang="en-US" sz="900" i="1" dirty="0">
                <a:solidFill>
                  <a:srgbClr val="9AB0CC"/>
                </a:solidFill>
                <a:latin typeface="Calibri" pitchFamily="34" charset="0"/>
                <a:ea typeface="Calibri" pitchFamily="34" charset="-122"/>
                <a:cs typeface="Calibri" pitchFamily="34" charset="-120"/>
              </a:rPr>
              <a:t>(today’s avg: 83 act/u/mo)</a:t>
            </a:r>
            <a:endParaRPr lang="en-US" sz="900" dirty="0"/>
          </a:p>
        </p:txBody>
      </p:sp>
      <p:sp>
        <p:nvSpPr>
          <p:cNvPr id="8" name="Text 5"/>
          <p:cNvSpPr/>
          <p:nvPr/>
        </p:nvSpPr>
        <p:spPr>
          <a:xfrm>
            <a:off x="8595360" y="2240280"/>
            <a:ext cx="1463040" cy="310896"/>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200 (now)</a:t>
            </a:r>
            <a:endParaRPr lang="en-US" sz="1100" dirty="0"/>
          </a:p>
        </p:txBody>
      </p:sp>
      <p:sp>
        <p:nvSpPr>
          <p:cNvPr id="9" name="Text 6"/>
          <p:cNvSpPr/>
          <p:nvPr/>
        </p:nvSpPr>
        <p:spPr>
          <a:xfrm>
            <a:off x="8595360" y="2551176"/>
            <a:ext cx="1463040" cy="292608"/>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83 act/u/mo</a:t>
            </a:r>
            <a:endParaRPr lang="en-US" sz="900" dirty="0"/>
          </a:p>
        </p:txBody>
      </p:sp>
      <p:sp>
        <p:nvSpPr>
          <p:cNvPr id="10" name="Text 7"/>
          <p:cNvSpPr/>
          <p:nvPr/>
        </p:nvSpPr>
        <p:spPr>
          <a:xfrm>
            <a:off x="10058400" y="2240280"/>
            <a:ext cx="1463040" cy="603504"/>
          </a:xfrm>
          <a:prstGeom prst="rect">
            <a:avLst/>
          </a:prstGeom>
          <a:noFill/>
          <a:ln/>
        </p:spPr>
        <p:txBody>
          <a:bodyPr wrap="square" rtlCol="0" anchor="ctr"/>
          <a:lstStyle/>
          <a:p>
            <a:pPr algn="r" indent="0" marL="0">
              <a:buNone/>
            </a:pPr>
            <a:r>
              <a:rPr lang="en-US" sz="1800" b="1" dirty="0">
                <a:solidFill>
                  <a:srgbClr val="4ADE80"/>
                </a:solidFill>
                <a:latin typeface="Cambria" pitchFamily="34" charset="0"/>
                <a:ea typeface="Cambria" pitchFamily="34" charset="-122"/>
                <a:cs typeface="Cambria" pitchFamily="34" charset="-120"/>
              </a:rPr>
              <a:t>14.2x</a:t>
            </a:r>
            <a:endParaRPr lang="en-US" sz="1800" dirty="0"/>
          </a:p>
        </p:txBody>
      </p:sp>
      <p:sp>
        <p:nvSpPr>
          <p:cNvPr id="11" name="Shape 8"/>
          <p:cNvSpPr/>
          <p:nvPr/>
        </p:nvSpPr>
        <p:spPr>
          <a:xfrm>
            <a:off x="8595360" y="2862072"/>
            <a:ext cx="2926080" cy="18288"/>
          </a:xfrm>
          <a:prstGeom prst="rect">
            <a:avLst/>
          </a:prstGeom>
          <a:solidFill>
            <a:srgbClr val="16335E"/>
          </a:solidFill>
          <a:ln/>
        </p:spPr>
      </p:sp>
      <p:sp>
        <p:nvSpPr>
          <p:cNvPr id="12" name="Text 9"/>
          <p:cNvSpPr/>
          <p:nvPr/>
        </p:nvSpPr>
        <p:spPr>
          <a:xfrm>
            <a:off x="8595360" y="2898648"/>
            <a:ext cx="1463040" cy="310896"/>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400</a:t>
            </a:r>
            <a:endParaRPr lang="en-US" sz="1100" dirty="0"/>
          </a:p>
        </p:txBody>
      </p:sp>
      <p:sp>
        <p:nvSpPr>
          <p:cNvPr id="13" name="Text 10"/>
          <p:cNvSpPr/>
          <p:nvPr/>
        </p:nvSpPr>
        <p:spPr>
          <a:xfrm>
            <a:off x="8595360" y="3209544"/>
            <a:ext cx="1463040" cy="292608"/>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91 act/u/mo</a:t>
            </a:r>
            <a:endParaRPr lang="en-US" sz="900" dirty="0"/>
          </a:p>
        </p:txBody>
      </p:sp>
      <p:sp>
        <p:nvSpPr>
          <p:cNvPr id="14" name="Text 11"/>
          <p:cNvSpPr/>
          <p:nvPr/>
        </p:nvSpPr>
        <p:spPr>
          <a:xfrm>
            <a:off x="10058400" y="2898648"/>
            <a:ext cx="1463040" cy="603504"/>
          </a:xfrm>
          <a:prstGeom prst="rect">
            <a:avLst/>
          </a:prstGeom>
          <a:noFill/>
          <a:ln/>
        </p:spPr>
        <p:txBody>
          <a:bodyPr wrap="square" rtlCol="0" anchor="ctr"/>
          <a:lstStyle/>
          <a:p>
            <a:pPr algn="r" indent="0" marL="0">
              <a:buNone/>
            </a:pPr>
            <a:r>
              <a:rPr lang="en-US" sz="1800" b="1" dirty="0">
                <a:solidFill>
                  <a:srgbClr val="4ADE80"/>
                </a:solidFill>
                <a:latin typeface="Cambria" pitchFamily="34" charset="0"/>
                <a:ea typeface="Cambria" pitchFamily="34" charset="-122"/>
                <a:cs typeface="Cambria" pitchFamily="34" charset="-120"/>
              </a:rPr>
              <a:t>15.7x</a:t>
            </a:r>
            <a:endParaRPr lang="en-US" sz="1800" dirty="0"/>
          </a:p>
        </p:txBody>
      </p:sp>
      <p:sp>
        <p:nvSpPr>
          <p:cNvPr id="15" name="Shape 12"/>
          <p:cNvSpPr/>
          <p:nvPr/>
        </p:nvSpPr>
        <p:spPr>
          <a:xfrm>
            <a:off x="8595360" y="3520440"/>
            <a:ext cx="2926080" cy="18288"/>
          </a:xfrm>
          <a:prstGeom prst="rect">
            <a:avLst/>
          </a:prstGeom>
          <a:solidFill>
            <a:srgbClr val="16335E"/>
          </a:solidFill>
          <a:ln/>
        </p:spPr>
      </p:sp>
      <p:sp>
        <p:nvSpPr>
          <p:cNvPr id="16" name="Text 13"/>
          <p:cNvSpPr/>
          <p:nvPr/>
        </p:nvSpPr>
        <p:spPr>
          <a:xfrm>
            <a:off x="8595360" y="3557016"/>
            <a:ext cx="1463040" cy="310896"/>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1,000</a:t>
            </a:r>
            <a:endParaRPr lang="en-US" sz="1100" dirty="0"/>
          </a:p>
        </p:txBody>
      </p:sp>
      <p:sp>
        <p:nvSpPr>
          <p:cNvPr id="17" name="Text 14"/>
          <p:cNvSpPr/>
          <p:nvPr/>
        </p:nvSpPr>
        <p:spPr>
          <a:xfrm>
            <a:off x="8595360" y="3867912"/>
            <a:ext cx="1463040" cy="292608"/>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104 act/u/mo</a:t>
            </a:r>
            <a:endParaRPr lang="en-US" sz="900" dirty="0"/>
          </a:p>
        </p:txBody>
      </p:sp>
      <p:sp>
        <p:nvSpPr>
          <p:cNvPr id="18" name="Text 15"/>
          <p:cNvSpPr/>
          <p:nvPr/>
        </p:nvSpPr>
        <p:spPr>
          <a:xfrm>
            <a:off x="10058400" y="3557016"/>
            <a:ext cx="1463040" cy="603504"/>
          </a:xfrm>
          <a:prstGeom prst="rect">
            <a:avLst/>
          </a:prstGeom>
          <a:noFill/>
          <a:ln/>
        </p:spPr>
        <p:txBody>
          <a:bodyPr wrap="square" rtlCol="0" anchor="ctr"/>
          <a:lstStyle/>
          <a:p>
            <a:pPr algn="r" indent="0" marL="0">
              <a:buNone/>
            </a:pPr>
            <a:r>
              <a:rPr lang="en-US" sz="1800" b="1" dirty="0">
                <a:solidFill>
                  <a:srgbClr val="4ADE80"/>
                </a:solidFill>
                <a:latin typeface="Cambria" pitchFamily="34" charset="0"/>
                <a:ea typeface="Cambria" pitchFamily="34" charset="-122"/>
                <a:cs typeface="Cambria" pitchFamily="34" charset="-120"/>
              </a:rPr>
              <a:t>17.8x</a:t>
            </a:r>
            <a:endParaRPr lang="en-US" sz="1800" dirty="0"/>
          </a:p>
        </p:txBody>
      </p:sp>
      <p:sp>
        <p:nvSpPr>
          <p:cNvPr id="19" name="Shape 16"/>
          <p:cNvSpPr/>
          <p:nvPr/>
        </p:nvSpPr>
        <p:spPr>
          <a:xfrm>
            <a:off x="8595360" y="4178808"/>
            <a:ext cx="2926080" cy="18288"/>
          </a:xfrm>
          <a:prstGeom prst="rect">
            <a:avLst/>
          </a:prstGeom>
          <a:solidFill>
            <a:srgbClr val="16335E"/>
          </a:solidFill>
          <a:ln/>
        </p:spPr>
      </p:sp>
      <p:sp>
        <p:nvSpPr>
          <p:cNvPr id="20" name="Text 17"/>
          <p:cNvSpPr/>
          <p:nvPr/>
        </p:nvSpPr>
        <p:spPr>
          <a:xfrm>
            <a:off x="8595360" y="4215384"/>
            <a:ext cx="1463040" cy="310896"/>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2,000</a:t>
            </a:r>
            <a:endParaRPr lang="en-US" sz="1100" dirty="0"/>
          </a:p>
        </p:txBody>
      </p:sp>
      <p:sp>
        <p:nvSpPr>
          <p:cNvPr id="21" name="Text 18"/>
          <p:cNvSpPr/>
          <p:nvPr/>
        </p:nvSpPr>
        <p:spPr>
          <a:xfrm>
            <a:off x="8595360" y="4526280"/>
            <a:ext cx="1463040" cy="292608"/>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116 act/u/mo</a:t>
            </a:r>
            <a:endParaRPr lang="en-US" sz="900" dirty="0"/>
          </a:p>
        </p:txBody>
      </p:sp>
      <p:sp>
        <p:nvSpPr>
          <p:cNvPr id="22" name="Text 19"/>
          <p:cNvSpPr/>
          <p:nvPr/>
        </p:nvSpPr>
        <p:spPr>
          <a:xfrm>
            <a:off x="10058400" y="4215384"/>
            <a:ext cx="1463040" cy="603504"/>
          </a:xfrm>
          <a:prstGeom prst="rect">
            <a:avLst/>
          </a:prstGeom>
          <a:noFill/>
          <a:ln/>
        </p:spPr>
        <p:txBody>
          <a:bodyPr wrap="square" rtlCol="0" anchor="ctr"/>
          <a:lstStyle/>
          <a:p>
            <a:pPr algn="r" indent="0" marL="0">
              <a:buNone/>
            </a:pPr>
            <a:r>
              <a:rPr lang="en-US" sz="1800" b="1" dirty="0">
                <a:solidFill>
                  <a:srgbClr val="4ADE80"/>
                </a:solidFill>
                <a:latin typeface="Cambria" pitchFamily="34" charset="0"/>
                <a:ea typeface="Cambria" pitchFamily="34" charset="-122"/>
                <a:cs typeface="Cambria" pitchFamily="34" charset="-120"/>
              </a:rPr>
              <a:t>19.9x</a:t>
            </a:r>
            <a:endParaRPr lang="en-US" sz="1800" dirty="0"/>
          </a:p>
        </p:txBody>
      </p:sp>
      <p:sp>
        <p:nvSpPr>
          <p:cNvPr id="23" name="Shape 20"/>
          <p:cNvSpPr/>
          <p:nvPr/>
        </p:nvSpPr>
        <p:spPr>
          <a:xfrm>
            <a:off x="8595360" y="4837176"/>
            <a:ext cx="2926080" cy="18288"/>
          </a:xfrm>
          <a:prstGeom prst="rect">
            <a:avLst/>
          </a:prstGeom>
          <a:solidFill>
            <a:srgbClr val="16335E"/>
          </a:solidFill>
          <a:ln/>
        </p:spPr>
      </p:sp>
      <p:sp>
        <p:nvSpPr>
          <p:cNvPr id="24" name="Text 21"/>
          <p:cNvSpPr/>
          <p:nvPr/>
        </p:nvSpPr>
        <p:spPr>
          <a:xfrm>
            <a:off x="8595360" y="4873752"/>
            <a:ext cx="1463040" cy="310896"/>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4,000</a:t>
            </a:r>
            <a:endParaRPr lang="en-US" sz="1100" dirty="0"/>
          </a:p>
        </p:txBody>
      </p:sp>
      <p:sp>
        <p:nvSpPr>
          <p:cNvPr id="25" name="Text 22"/>
          <p:cNvSpPr/>
          <p:nvPr/>
        </p:nvSpPr>
        <p:spPr>
          <a:xfrm>
            <a:off x="8595360" y="5184648"/>
            <a:ext cx="1463040" cy="292608"/>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129 act/u/mo</a:t>
            </a:r>
            <a:endParaRPr lang="en-US" sz="900" dirty="0"/>
          </a:p>
        </p:txBody>
      </p:sp>
      <p:sp>
        <p:nvSpPr>
          <p:cNvPr id="26" name="Text 23"/>
          <p:cNvSpPr/>
          <p:nvPr/>
        </p:nvSpPr>
        <p:spPr>
          <a:xfrm>
            <a:off x="10058400" y="4873752"/>
            <a:ext cx="1463040" cy="603504"/>
          </a:xfrm>
          <a:prstGeom prst="rect">
            <a:avLst/>
          </a:prstGeom>
          <a:noFill/>
          <a:ln/>
        </p:spPr>
        <p:txBody>
          <a:bodyPr wrap="square" rtlCol="0" anchor="ctr"/>
          <a:lstStyle/>
          <a:p>
            <a:pPr algn="r" indent="0" marL="0">
              <a:buNone/>
            </a:pPr>
            <a:r>
              <a:rPr lang="en-US" sz="1800" b="1" dirty="0">
                <a:solidFill>
                  <a:srgbClr val="4ADE80"/>
                </a:solidFill>
                <a:latin typeface="Cambria" pitchFamily="34" charset="0"/>
                <a:ea typeface="Cambria" pitchFamily="34" charset="-122"/>
                <a:cs typeface="Cambria" pitchFamily="34" charset="-120"/>
              </a:rPr>
              <a:t>22.1x</a:t>
            </a:r>
            <a:endParaRPr lang="en-US" sz="1800" dirty="0"/>
          </a:p>
        </p:txBody>
      </p:sp>
      <p:sp>
        <p:nvSpPr>
          <p:cNvPr id="27" name="Shape 24"/>
          <p:cNvSpPr/>
          <p:nvPr/>
        </p:nvSpPr>
        <p:spPr>
          <a:xfrm>
            <a:off x="548640" y="5852160"/>
            <a:ext cx="11109960" cy="502920"/>
          </a:xfrm>
          <a:prstGeom prst="rect">
            <a:avLst/>
          </a:prstGeom>
          <a:solidFill>
            <a:srgbClr val="0F2647"/>
          </a:solidFill>
          <a:ln/>
        </p:spPr>
      </p:sp>
      <p:sp>
        <p:nvSpPr>
          <p:cNvPr id="28" name="Text 25"/>
          <p:cNvSpPr/>
          <p:nvPr/>
        </p:nvSpPr>
        <p:spPr>
          <a:xfrm>
            <a:off x="777240" y="5897880"/>
            <a:ext cx="10698480" cy="411480"/>
          </a:xfrm>
          <a:prstGeom prst="rect">
            <a:avLst/>
          </a:prstGeom>
          <a:noFill/>
          <a:ln/>
        </p:spPr>
        <p:txBody>
          <a:bodyPr wrap="square" rtlCol="0" anchor="ctr"/>
          <a:lstStyle/>
          <a:p>
            <a:pPr indent="0" marL="0">
              <a:buNone/>
            </a:pPr>
            <a:r>
              <a:rPr lang="en-US" sz="1200" b="1" dirty="0">
                <a:solidFill>
                  <a:srgbClr val="4FC3F7"/>
                </a:solidFill>
                <a:latin typeface="Calibri" pitchFamily="34" charset="0"/>
                <a:ea typeface="Calibri" pitchFamily="34" charset="-122"/>
                <a:cs typeface="Calibri" pitchFamily="34" charset="-120"/>
              </a:rPr>
              <a:t>How it scales:  </a:t>
            </a:r>
            <a:pPr indent="0" marL="0">
              <a:buNone/>
            </a:pPr>
            <a:r>
              <a:rPr lang="en-US" sz="1100" dirty="0">
                <a:solidFill>
                  <a:srgbClr val="CADCFC"/>
                </a:solidFill>
                <a:latin typeface="Calibri" pitchFamily="34" charset="0"/>
                <a:ea typeface="Calibri" pitchFamily="34" charset="-122"/>
                <a:cs typeface="Calibri" pitchFamily="34" charset="-120"/>
              </a:rPr>
              <a:t>ROI = (users × 83 × multiplier × $7.80/action) ÷ (users × $30/mo).  Multipliers: 2×=1.10, 5×=1.25, 10×=1.40, 20×=1.55  (modeled from network-effect literature; see notes).</a:t>
            </a:r>
            <a:endParaRPr lang="en-US" sz="1200" dirty="0"/>
          </a:p>
        </p:txBody>
      </p:sp>
      <p:sp>
        <p:nvSpPr>
          <p:cNvPr id="29" name="Text 26"/>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M365 Copilot ROI Analysis  |  16 weeks  |  4 Organization</a:t>
            </a:r>
            <a:endParaRPr lang="en-US" sz="900" dirty="0"/>
          </a:p>
        </p:txBody>
      </p:sp>
      <p:sp>
        <p:nvSpPr>
          <p:cNvPr id="30" name="Text 27"/>
          <p:cNvSpPr/>
          <p:nvPr/>
        </p:nvSpPr>
        <p:spPr>
          <a:xfrm>
            <a:off x="11155680" y="6537960"/>
            <a:ext cx="548640" cy="274320"/>
          </a:xfrm>
          <a:prstGeom prst="rect">
            <a:avLst/>
          </a:prstGeom>
          <a:noFill/>
          <a:ln/>
        </p:spPr>
        <p:txBody>
          <a:bodyPr wrap="square" rtlCol="0" anchor="ctr"/>
          <a:lstStyle/>
          <a:p>
            <a:pPr algn="r" indent="0" marL="0">
              <a:buNone/>
            </a:pPr>
            <a:r>
              <a:rPr lang="en-US" sz="900" dirty="0">
                <a:solidFill>
                  <a:srgbClr val="9AB0CC"/>
                </a:solidFill>
                <a:latin typeface="Calibri" pitchFamily="34" charset="0"/>
                <a:ea typeface="Calibri" pitchFamily="34" charset="-122"/>
                <a:cs typeface="Calibri"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365760" y="548640"/>
            <a:ext cx="54864" cy="5760720"/>
          </a:xfrm>
          <a:prstGeom prst="rect">
            <a:avLst/>
          </a:prstGeom>
          <a:solidFill>
            <a:srgbClr val="4FC3F7"/>
          </a:solidFill>
          <a:ln/>
        </p:spPr>
      </p:sp>
      <p:sp>
        <p:nvSpPr>
          <p:cNvPr id="3" name="Shape 1"/>
          <p:cNvSpPr/>
          <p:nvPr/>
        </p:nvSpPr>
        <p:spPr>
          <a:xfrm>
            <a:off x="658368" y="548640"/>
            <a:ext cx="54864" cy="5760720"/>
          </a:xfrm>
          <a:prstGeom prst="rect">
            <a:avLst/>
          </a:prstGeom>
          <a:solidFill>
            <a:srgbClr val="16335E"/>
          </a:solidFill>
          <a:ln/>
        </p:spPr>
      </p:sp>
      <p:sp>
        <p:nvSpPr>
          <p:cNvPr id="4" name="Shape 2"/>
          <p:cNvSpPr/>
          <p:nvPr/>
        </p:nvSpPr>
        <p:spPr>
          <a:xfrm>
            <a:off x="950976" y="548640"/>
            <a:ext cx="54864" cy="5760720"/>
          </a:xfrm>
          <a:prstGeom prst="rect">
            <a:avLst/>
          </a:prstGeom>
          <a:solidFill>
            <a:srgbClr val="16335E"/>
          </a:solidFill>
          <a:ln/>
        </p:spPr>
      </p:sp>
      <p:sp>
        <p:nvSpPr>
          <p:cNvPr id="5" name="Shape 3"/>
          <p:cNvSpPr/>
          <p:nvPr/>
        </p:nvSpPr>
        <p:spPr>
          <a:xfrm>
            <a:off x="1243584" y="548640"/>
            <a:ext cx="54864" cy="5760720"/>
          </a:xfrm>
          <a:prstGeom prst="rect">
            <a:avLst/>
          </a:prstGeom>
          <a:solidFill>
            <a:srgbClr val="16335E"/>
          </a:solidFill>
          <a:ln/>
        </p:spPr>
      </p:sp>
      <p:sp>
        <p:nvSpPr>
          <p:cNvPr id="6" name="Shape 4"/>
          <p:cNvSpPr/>
          <p:nvPr/>
        </p:nvSpPr>
        <p:spPr>
          <a:xfrm>
            <a:off x="1536192" y="548640"/>
            <a:ext cx="54864" cy="5760720"/>
          </a:xfrm>
          <a:prstGeom prst="rect">
            <a:avLst/>
          </a:prstGeom>
          <a:solidFill>
            <a:srgbClr val="16335E"/>
          </a:solidFill>
          <a:ln/>
        </p:spPr>
      </p:sp>
      <p:sp>
        <p:nvSpPr>
          <p:cNvPr id="7" name="Text 5"/>
          <p:cNvSpPr/>
          <p:nvPr/>
        </p:nvSpPr>
        <p:spPr>
          <a:xfrm>
            <a:off x="2194560" y="640080"/>
            <a:ext cx="9144000" cy="365760"/>
          </a:xfrm>
          <a:prstGeom prst="rect">
            <a:avLst/>
          </a:prstGeom>
          <a:noFill/>
          <a:ln/>
        </p:spPr>
        <p:txBody>
          <a:bodyPr wrap="square" rtlCol="0" anchor="ctr"/>
          <a:lstStyle/>
          <a:p>
            <a:pPr indent="0" marL="0">
              <a:buNone/>
            </a:pPr>
            <a:r>
              <a:rPr lang="en-US" sz="1200" b="1" dirty="0">
                <a:solidFill>
                  <a:srgbClr val="4FC3F7"/>
                </a:solidFill>
                <a:latin typeface="Calibri" pitchFamily="34" charset="0"/>
                <a:ea typeface="Calibri" pitchFamily="34" charset="-122"/>
                <a:cs typeface="Calibri" pitchFamily="34" charset="-120"/>
              </a:rPr>
              <a:t>RECOMMENDATIONS</a:t>
            </a:r>
            <a:endParaRPr lang="en-US" sz="1200" dirty="0"/>
          </a:p>
        </p:txBody>
      </p:sp>
      <p:sp>
        <p:nvSpPr>
          <p:cNvPr id="8" name="Text 6"/>
          <p:cNvSpPr/>
          <p:nvPr/>
        </p:nvSpPr>
        <p:spPr>
          <a:xfrm>
            <a:off x="2194560" y="1051560"/>
            <a:ext cx="91440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Where to invest next</a:t>
            </a:r>
            <a:endParaRPr lang="en-US" sz="4000" dirty="0"/>
          </a:p>
        </p:txBody>
      </p:sp>
      <p:sp>
        <p:nvSpPr>
          <p:cNvPr id="9" name="Shape 7"/>
          <p:cNvSpPr/>
          <p:nvPr/>
        </p:nvSpPr>
        <p:spPr>
          <a:xfrm>
            <a:off x="2194560" y="1965960"/>
            <a:ext cx="1097280" cy="54864"/>
          </a:xfrm>
          <a:prstGeom prst="rect">
            <a:avLst/>
          </a:prstGeom>
          <a:solidFill>
            <a:srgbClr val="4FC3F7"/>
          </a:solidFill>
          <a:ln/>
        </p:spPr>
      </p:sp>
      <p:sp>
        <p:nvSpPr>
          <p:cNvPr id="10" name="Shape 8"/>
          <p:cNvSpPr/>
          <p:nvPr/>
        </p:nvSpPr>
        <p:spPr>
          <a:xfrm>
            <a:off x="2194560" y="2377440"/>
            <a:ext cx="9509760" cy="1234440"/>
          </a:xfrm>
          <a:prstGeom prst="rect">
            <a:avLst/>
          </a:prstGeom>
          <a:solidFill>
            <a:srgbClr val="16335E"/>
          </a:solidFill>
          <a:ln/>
        </p:spPr>
      </p:sp>
      <p:sp>
        <p:nvSpPr>
          <p:cNvPr id="11" name="Text 9"/>
          <p:cNvSpPr/>
          <p:nvPr/>
        </p:nvSpPr>
        <p:spPr>
          <a:xfrm>
            <a:off x="2331720" y="2514600"/>
            <a:ext cx="822960" cy="960120"/>
          </a:xfrm>
          <a:prstGeom prst="rect">
            <a:avLst/>
          </a:prstGeom>
          <a:noFill/>
          <a:ln/>
        </p:spPr>
        <p:txBody>
          <a:bodyPr wrap="square" rtlCol="0" anchor="ctr"/>
          <a:lstStyle/>
          <a:p>
            <a:pPr algn="ctr" indent="0" marL="0">
              <a:buNone/>
            </a:pPr>
            <a:r>
              <a:rPr lang="en-US" sz="3200" b="1" dirty="0">
                <a:solidFill>
                  <a:srgbClr val="4ADE80"/>
                </a:solidFill>
                <a:latin typeface="Calibri" pitchFamily="34" charset="0"/>
                <a:ea typeface="Calibri" pitchFamily="34" charset="-122"/>
                <a:cs typeface="Calibri" pitchFamily="34" charset="-120"/>
              </a:rPr>
              <a:t>01</a:t>
            </a:r>
            <a:endParaRPr lang="en-US" sz="3200" dirty="0"/>
          </a:p>
        </p:txBody>
      </p:sp>
      <p:sp>
        <p:nvSpPr>
          <p:cNvPr id="12" name="Text 10"/>
          <p:cNvSpPr/>
          <p:nvPr/>
        </p:nvSpPr>
        <p:spPr>
          <a:xfrm>
            <a:off x="3246120" y="2514600"/>
            <a:ext cx="82296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Replicate top-tier playbooks</a:t>
            </a:r>
            <a:endParaRPr lang="en-US" sz="1700" dirty="0"/>
          </a:p>
        </p:txBody>
      </p:sp>
      <p:sp>
        <p:nvSpPr>
          <p:cNvPr id="13" name="Text 11"/>
          <p:cNvSpPr/>
          <p:nvPr/>
        </p:nvSpPr>
        <p:spPr>
          <a:xfrm>
            <a:off x="3246120" y="2926080"/>
            <a:ext cx="8229600" cy="59436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Codify what Northwind Traders and top performers do differently — power user ratios, prompt patterns, weekly cadence. Package as an enablement kit for mid-tier Organization.</a:t>
            </a:r>
            <a:endParaRPr lang="en-US" sz="1200" dirty="0"/>
          </a:p>
        </p:txBody>
      </p:sp>
      <p:sp>
        <p:nvSpPr>
          <p:cNvPr id="14" name="Shape 12"/>
          <p:cNvSpPr/>
          <p:nvPr/>
        </p:nvSpPr>
        <p:spPr>
          <a:xfrm>
            <a:off x="2194560" y="3776472"/>
            <a:ext cx="9509760" cy="1234440"/>
          </a:xfrm>
          <a:prstGeom prst="rect">
            <a:avLst/>
          </a:prstGeom>
          <a:solidFill>
            <a:srgbClr val="16335E"/>
          </a:solidFill>
          <a:ln/>
        </p:spPr>
      </p:sp>
      <p:sp>
        <p:nvSpPr>
          <p:cNvPr id="15" name="Text 13"/>
          <p:cNvSpPr/>
          <p:nvPr/>
        </p:nvSpPr>
        <p:spPr>
          <a:xfrm>
            <a:off x="2331720" y="3913632"/>
            <a:ext cx="822960" cy="960120"/>
          </a:xfrm>
          <a:prstGeom prst="rect">
            <a:avLst/>
          </a:prstGeom>
          <a:noFill/>
          <a:ln/>
        </p:spPr>
        <p:txBody>
          <a:bodyPr wrap="square" rtlCol="0" anchor="ctr"/>
          <a:lstStyle/>
          <a:p>
            <a:pPr algn="ctr" indent="0" marL="0">
              <a:buNone/>
            </a:pPr>
            <a:r>
              <a:rPr lang="en-US" sz="3200" b="1" dirty="0">
                <a:solidFill>
                  <a:srgbClr val="4FC3F7"/>
                </a:solidFill>
                <a:latin typeface="Calibri" pitchFamily="34" charset="0"/>
                <a:ea typeface="Calibri" pitchFamily="34" charset="-122"/>
                <a:cs typeface="Calibri" pitchFamily="34" charset="-120"/>
              </a:rPr>
              <a:t>02</a:t>
            </a:r>
            <a:endParaRPr lang="en-US" sz="3200" dirty="0"/>
          </a:p>
        </p:txBody>
      </p:sp>
      <p:sp>
        <p:nvSpPr>
          <p:cNvPr id="16" name="Text 14"/>
          <p:cNvSpPr/>
          <p:nvPr/>
        </p:nvSpPr>
        <p:spPr>
          <a:xfrm>
            <a:off x="3246120" y="3913632"/>
            <a:ext cx="82296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Lift the bottom 25% tier</a:t>
            </a:r>
            <a:endParaRPr lang="en-US" sz="1700" dirty="0"/>
          </a:p>
        </p:txBody>
      </p:sp>
      <p:sp>
        <p:nvSpPr>
          <p:cNvPr id="17" name="Text 15"/>
          <p:cNvSpPr/>
          <p:nvPr/>
        </p:nvSpPr>
        <p:spPr>
          <a:xfrm>
            <a:off x="3246120" y="4325112"/>
            <a:ext cx="8229600" cy="59436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43 users currently at 0.0x ROI. Targeted coaching to lift them to the median tier (4.5x) adds significant monthly value at zero incremental license cost — same seats, more usage.</a:t>
            </a:r>
            <a:endParaRPr lang="en-US" sz="1200" dirty="0"/>
          </a:p>
        </p:txBody>
      </p:sp>
      <p:sp>
        <p:nvSpPr>
          <p:cNvPr id="18" name="Shape 16"/>
          <p:cNvSpPr/>
          <p:nvPr/>
        </p:nvSpPr>
        <p:spPr>
          <a:xfrm>
            <a:off x="2194560" y="5175504"/>
            <a:ext cx="9509760" cy="1234440"/>
          </a:xfrm>
          <a:prstGeom prst="rect">
            <a:avLst/>
          </a:prstGeom>
          <a:solidFill>
            <a:srgbClr val="16335E"/>
          </a:solidFill>
          <a:ln/>
        </p:spPr>
      </p:sp>
      <p:sp>
        <p:nvSpPr>
          <p:cNvPr id="19" name="Text 17"/>
          <p:cNvSpPr/>
          <p:nvPr/>
        </p:nvSpPr>
        <p:spPr>
          <a:xfrm>
            <a:off x="2331720" y="5312664"/>
            <a:ext cx="822960" cy="960120"/>
          </a:xfrm>
          <a:prstGeom prst="rect">
            <a:avLst/>
          </a:prstGeom>
          <a:noFill/>
          <a:ln/>
        </p:spPr>
        <p:txBody>
          <a:bodyPr wrap="square" rtlCol="0" anchor="ctr"/>
          <a:lstStyle/>
          <a:p>
            <a:pPr algn="ctr" indent="0" marL="0">
              <a:buNone/>
            </a:pPr>
            <a:r>
              <a:rPr lang="en-US" sz="3200" b="1" dirty="0">
                <a:solidFill>
                  <a:srgbClr val="F5C451"/>
                </a:solidFill>
                <a:latin typeface="Calibri" pitchFamily="34" charset="0"/>
                <a:ea typeface="Calibri" pitchFamily="34" charset="-122"/>
                <a:cs typeface="Calibri" pitchFamily="34" charset="-120"/>
              </a:rPr>
              <a:t>03</a:t>
            </a:r>
            <a:endParaRPr lang="en-US" sz="3200" dirty="0"/>
          </a:p>
        </p:txBody>
      </p:sp>
      <p:sp>
        <p:nvSpPr>
          <p:cNvPr id="20" name="Text 18"/>
          <p:cNvSpPr/>
          <p:nvPr/>
        </p:nvSpPr>
        <p:spPr>
          <a:xfrm>
            <a:off x="3246120" y="5312664"/>
            <a:ext cx="82296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Expand licensed footprint</a:t>
            </a:r>
            <a:endParaRPr lang="en-US" sz="1700" dirty="0"/>
          </a:p>
        </p:txBody>
      </p:sp>
      <p:sp>
        <p:nvSpPr>
          <p:cNvPr id="21" name="Text 19"/>
          <p:cNvSpPr/>
          <p:nvPr/>
        </p:nvSpPr>
        <p:spPr>
          <a:xfrm>
            <a:off x="3246120" y="5724144"/>
            <a:ext cx="8229600" cy="594360"/>
          </a:xfrm>
          <a:prstGeom prst="rect">
            <a:avLst/>
          </a:prstGeom>
          <a:noFill/>
          <a:ln/>
        </p:spPr>
        <p:txBody>
          <a:bodyPr wrap="square" rtlCol="0" anchor="t"/>
          <a:lstStyle/>
          <a:p>
            <a:pPr indent="0" marL="0">
              <a:buNone/>
            </a:pPr>
            <a:r>
              <a:rPr lang="en-US" sz="1200" dirty="0">
                <a:solidFill>
                  <a:srgbClr val="CADCFC"/>
                </a:solidFill>
                <a:latin typeface="Calibri" pitchFamily="34" charset="0"/>
                <a:ea typeface="Calibri" pitchFamily="34" charset="-122"/>
                <a:cs typeface="Calibri" pitchFamily="34" charset="-120"/>
              </a:rPr>
              <a:t>Each 1,000 unlicensed seats represents ~$3,521,904/year net gain at a realistic 50%-of-current-productivity ramp (range: $416,381 floor → $7,403,807 at full parity).</a:t>
            </a:r>
            <a:endParaRPr lang="en-US" sz="1200" dirty="0"/>
          </a:p>
        </p:txBody>
      </p:sp>
      <p:sp>
        <p:nvSpPr>
          <p:cNvPr id="22" name="Text 20"/>
          <p:cNvSpPr/>
          <p:nvPr/>
        </p:nvSpPr>
        <p:spPr>
          <a:xfrm>
            <a:off x="2194560" y="6446520"/>
            <a:ext cx="9509760" cy="274320"/>
          </a:xfrm>
          <a:prstGeom prst="rect">
            <a:avLst/>
          </a:prstGeom>
          <a:noFill/>
          <a:ln/>
        </p:spPr>
        <p:txBody>
          <a:bodyPr wrap="square" rtlCol="0" anchor="ctr"/>
          <a:lstStyle/>
          <a:p>
            <a:pPr indent="0" marL="0">
              <a:buNone/>
            </a:pPr>
            <a:r>
              <a:rPr lang="en-US" sz="900" dirty="0">
                <a:solidFill>
                  <a:srgbClr val="9AB0CC"/>
                </a:solidFill>
                <a:latin typeface="Calibri" pitchFamily="34" charset="0"/>
                <a:ea typeface="Calibri" pitchFamily="34" charset="-122"/>
                <a:cs typeface="Calibri" pitchFamily="34" charset="-120"/>
              </a:rPr>
              <a:t>Source: Copilot ROI Analysis  •  4 Organization  •  16 weeks  •  $78/hr fully-loaded rate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M365 Copilot Productivity ROI Analysis</dc:title>
  <dc:subject>Analysis of 4 Organization over 2025-01-06 to 2025-04-21</dc:subject>
  <dc:creator>Copilot ROI Calculator</dc:creator>
  <cp:lastModifiedBy>Copilot ROI Calculator</cp:lastModifiedBy>
  <cp:revision>1</cp:revision>
  <dcterms:created xsi:type="dcterms:W3CDTF">2026-09-10T17:34:28Z</dcterms:created>
  <dcterms:modified xsi:type="dcterms:W3CDTF">2026-09-10T17:34:28Z</dcterms:modified>
</cp:coreProperties>
</file>